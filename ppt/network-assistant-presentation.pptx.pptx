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1"/>
  </p:notesMasterIdLst>
  <p:sldIdLst>
    <p:sldId id="256" r:id="rId6"/>
    <p:sldId id="257" r:id="rId7"/>
    <p:sldId id="258" r:id="rId8"/>
    <p:sldId id="259" r:id="rId9"/>
    <p:sldId id="260" r:id="rId10"/>
  </p:sldIdLst>
  <p:sldSz cx="18288000" cy="10287000"/>
  <p:notesSz cx="6858000" cy="9144000"/>
  <p:embeddedFontLst>
    <p:embeddedFont>
      <p:font typeface="Open Sauce Bold" charset="1" panose="00000800000000000000"/>
      <p:regular r:id="rId14"/>
    </p:embeddedFont>
    <p:embeddedFont>
      <p:font typeface="Open Sauce" charset="1" panose="00000500000000000000"/>
      <p:regular r:id="rId15"/>
    </p:embeddedFont>
    <p:embeddedFont>
      <p:font typeface="DejaVu Sans Light" charset="1" panose="020B0603030804020204"/>
      <p:regular r:id="rId20"/>
    </p:embeddedFont>
    <p:embeddedFont>
      <p:font typeface="DejaVu Sans Bold" charset="1" panose="020B080303060402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notesMasters/notesMaster1.xml" Type="http://schemas.openxmlformats.org/officeDocument/2006/relationships/notesMaster"/><Relationship Id="rId12" Target="theme/theme2.xml" Type="http://schemas.openxmlformats.org/officeDocument/2006/relationships/theme"/><Relationship Id="rId13" Target="notesSlides/notesSlide1.xml" Type="http://schemas.openxmlformats.org/officeDocument/2006/relationships/notesSlide"/><Relationship Id="rId14" Target="fonts/font14.fntdata" Type="http://schemas.openxmlformats.org/officeDocument/2006/relationships/font"/><Relationship Id="rId15" Target="fonts/font15.fntdata" Type="http://schemas.openxmlformats.org/officeDocument/2006/relationships/font"/><Relationship Id="rId16" Target="notesSlides/notesSlide2.xml" Type="http://schemas.openxmlformats.org/officeDocument/2006/relationships/notesSlide"/><Relationship Id="rId17" Target="notesSlides/notesSlide3.xml" Type="http://schemas.openxmlformats.org/officeDocument/2006/relationships/notesSlide"/><Relationship Id="rId18" Target="notesSlides/notesSlide4.xml" Type="http://schemas.openxmlformats.org/officeDocument/2006/relationships/notesSlide"/><Relationship Id="rId19" Target="notesSlides/notesSlide5.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Project scope: a local Fedora prototype with a command-line interface. Tools cover IP/port blocking and removal, per-host outgoing bandwidth limits, ping, iperf3 and rule inspection. The model selects a tool; trusted Python code authorizes and executes it. No arbitrary shell execution tool is exposed. Source: project requirements and implementation shared in this conversation.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Control messages: chat.py calls ollama_planner.choose_tool over local HTTP, receives schema-constrained JSON, and calls session.call_tool. The client starts src.server through docker compose exec -T admin. MCP uses stdio, not a published server port. FastMCP dispatches constrained wrappers to backend services. Validators reject malformed values; YAML policies reject protected or out-of-range requests. The centralized runner uses a list of fixed arguments with shell=False and captures return code, output and duration. NET_ADMIN allows network changes in the admin namespace. Linux enforces packet rules, not Qwen. Post-operation inspection validates mutations; audit records persist through the /app/logs bind mount. The admin is an endpoint, not a forwarding router. Source: implemented project in this conversation. Official background: https://docs.ollama.com/capabilities/structured-outputs and https://github.com/modelcontextprotocol/python-sdk</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Evidence shown by the user: 121 pytest tests passed; the final NFR suite found exactly matching final audit records for 79 application request IDs. The first NFR run failed because the running admin container had no logs mount; records stayed inside the container. Recovery and recreation with ../logs:/app/logs:Z fixed persistence. tc class JSON used class instead of kind and flat rate/ceil values of 625000 bytes/s for 5 Mbps; regression tests and a retry corrected verification. iperf3 measured 4.74 Mbps receiver and 4.96 Mbps sender over the limited run. Native Qwen tool calling returned truncated prose; a JSON-schema planner then selected block_port correctly in dry-run. The natural-language live demonstration was instructed, but a full successful live transcript was not supplied. Do not infer a verified natural-language live success from the dry-run result.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 user-pasted docs/nfr-results.md, final PASS run dated 8 September 2026. The suite passed 18 checks. Concurrency batch duration was 48.93 ms. Bounded failure duration was 3104.46 ms and the 12000 ms budget is a project test assumption, not an externally approved SLA. Maximum latency: repeated no-change 9.411 ms, add 12.624 ms, removal 34.246 ms. P95 uses nearest rank on 20 samples. Scope includes live MCP dispatch, backend policy, kernel commands and audit, but excludes server startup and LLM inference. Capacity script fills the configured limit, rejects the next addition, verifies removal frees capacity and cleans up. The user said it was done but supplied no capacity result, so no measured capacity PASS is asserted. Schema-level rejections appear in client evidence, not backend audit.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model latency is one observed request, not a median or benchmark. Qwen3:4b used Ollama on Fedora with about 23 GiB RAM available at the time reported. GPU usage was not established. Preserve the distinction between unit tests, direct MCP integration evidence, and natural-language interaction evidence. The backend has live firewall and bandwidth results, while the supplied model transcript proves JSON selection and dry-run dispatch. Stored pending phases support investigation and retries but do not establish complete crash recovery. The slides use only evidence visible in the conversation and explicitly mark missing evaluation evidence.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TextBox 2" id="2"/>
          <p:cNvSpPr txBox="true"/>
          <p:nvPr/>
        </p:nvSpPr>
        <p:spPr>
          <a:xfrm rot="0">
            <a:off x="891540" y="555307"/>
            <a:ext cx="16504920" cy="704850"/>
          </a:xfrm>
          <a:prstGeom prst="rect">
            <a:avLst/>
          </a:prstGeom>
        </p:spPr>
        <p:txBody>
          <a:bodyPr anchor="t" rtlCol="false" tIns="0" lIns="0" bIns="0" rIns="0">
            <a:spAutoFit/>
          </a:bodyPr>
          <a:lstStyle/>
          <a:p>
            <a:pPr algn="l">
              <a:lnSpc>
                <a:spcPts val="5670"/>
              </a:lnSpc>
            </a:pPr>
            <a:r>
              <a:rPr lang="en-US" sz="4725" b="true">
                <a:solidFill>
                  <a:srgbClr val="13283D"/>
                </a:solidFill>
                <a:latin typeface="Open Sauce Bold"/>
                <a:ea typeface="Open Sauce Bold"/>
                <a:cs typeface="Open Sauce Bold"/>
                <a:sym typeface="Open Sauce Bold"/>
              </a:rPr>
              <a:t>Problem Statement &amp; Objectives</a:t>
            </a:r>
          </a:p>
        </p:txBody>
      </p:sp>
      <p:sp>
        <p:nvSpPr>
          <p:cNvPr name="TextBox 3" id="3"/>
          <p:cNvSpPr txBox="true"/>
          <p:nvPr/>
        </p:nvSpPr>
        <p:spPr>
          <a:xfrm rot="0">
            <a:off x="891540" y="9746932"/>
            <a:ext cx="4731127" cy="266730"/>
          </a:xfrm>
          <a:prstGeom prst="rect">
            <a:avLst/>
          </a:prstGeom>
        </p:spPr>
        <p:txBody>
          <a:bodyPr anchor="t" rtlCol="false" tIns="0" lIns="0" bIns="0" rIns="0">
            <a:spAutoFit/>
          </a:bodyPr>
          <a:lstStyle/>
          <a:p>
            <a:pPr algn="l">
              <a:lnSpc>
                <a:spcPts val="2160"/>
              </a:lnSpc>
            </a:pPr>
            <a:r>
              <a:rPr lang="en-US" sz="1800">
                <a:solidFill>
                  <a:srgbClr val="506176"/>
                </a:solidFill>
                <a:latin typeface="Open Sauce"/>
                <a:ea typeface="Open Sauce"/>
                <a:cs typeface="Open Sauce"/>
                <a:sym typeface="Open Sauce"/>
              </a:rPr>
              <a:t>Intelligent Network Configuration Assistant</a:t>
            </a:r>
          </a:p>
        </p:txBody>
      </p:sp>
      <p:sp>
        <p:nvSpPr>
          <p:cNvPr name="TextBox 4" id="4"/>
          <p:cNvSpPr txBox="true"/>
          <p:nvPr/>
        </p:nvSpPr>
        <p:spPr>
          <a:xfrm rot="0">
            <a:off x="16807815" y="9718357"/>
            <a:ext cx="288340" cy="304770"/>
          </a:xfrm>
          <a:prstGeom prst="rect">
            <a:avLst/>
          </a:prstGeom>
        </p:spPr>
        <p:txBody>
          <a:bodyPr anchor="t" rtlCol="false" tIns="0" lIns="0" bIns="0" rIns="0">
            <a:spAutoFit/>
          </a:bodyPr>
          <a:lstStyle/>
          <a:p>
            <a:pPr algn="l">
              <a:lnSpc>
                <a:spcPts val="2430"/>
              </a:lnSpc>
            </a:pPr>
            <a:r>
              <a:rPr lang="en-US" sz="2025" b="true">
                <a:solidFill>
                  <a:srgbClr val="007E87"/>
                </a:solidFill>
                <a:latin typeface="Open Sauce Bold"/>
                <a:ea typeface="Open Sauce Bold"/>
                <a:cs typeface="Open Sauce Bold"/>
                <a:sym typeface="Open Sauce Bold"/>
              </a:rPr>
              <a:t>01</a:t>
            </a:r>
          </a:p>
        </p:txBody>
      </p:sp>
      <p:sp>
        <p:nvSpPr>
          <p:cNvPr name="Freeform 5" id="5"/>
          <p:cNvSpPr/>
          <p:nvPr/>
        </p:nvSpPr>
        <p:spPr>
          <a:xfrm flipH="false" flipV="false" rot="-1977201">
            <a:off x="8302125" y="-801031"/>
            <a:ext cx="12791303" cy="9442307"/>
          </a:xfrm>
          <a:custGeom>
            <a:avLst/>
            <a:gdLst/>
            <a:ahLst/>
            <a:cxnLst/>
            <a:rect r="r" b="b" t="t" l="l"/>
            <a:pathLst>
              <a:path h="9442307" w="12791303">
                <a:moveTo>
                  <a:pt x="0" y="0"/>
                </a:moveTo>
                <a:lnTo>
                  <a:pt x="12791302" y="0"/>
                </a:lnTo>
                <a:lnTo>
                  <a:pt x="12791302" y="9442307"/>
                </a:lnTo>
                <a:lnTo>
                  <a:pt x="0" y="9442307"/>
                </a:lnTo>
                <a:lnTo>
                  <a:pt x="0" y="0"/>
                </a:lnTo>
                <a:close/>
              </a:path>
            </a:pathLst>
          </a:custGeom>
          <a:blipFill>
            <a:blip r:embed="rId3">
              <a:alphaModFix amt="42000"/>
            </a:blip>
            <a:stretch>
              <a:fillRect l="0" t="0" r="0" b="0"/>
            </a:stretch>
          </a:blipFill>
        </p:spPr>
      </p:sp>
      <p:sp>
        <p:nvSpPr>
          <p:cNvPr name="TextBox 6" id="6"/>
          <p:cNvSpPr txBox="true"/>
          <p:nvPr/>
        </p:nvSpPr>
        <p:spPr>
          <a:xfrm rot="0">
            <a:off x="891540" y="1864995"/>
            <a:ext cx="15961995" cy="1781175"/>
          </a:xfrm>
          <a:prstGeom prst="rect">
            <a:avLst/>
          </a:prstGeom>
        </p:spPr>
        <p:txBody>
          <a:bodyPr anchor="t" rtlCol="false" tIns="0" lIns="0" bIns="0" rIns="0">
            <a:spAutoFit/>
          </a:bodyPr>
          <a:lstStyle/>
          <a:p>
            <a:pPr algn="l">
              <a:lnSpc>
                <a:spcPts val="7020"/>
              </a:lnSpc>
            </a:pPr>
            <a:r>
              <a:rPr lang="en-US" sz="5850" b="true">
                <a:solidFill>
                  <a:srgbClr val="13283D"/>
                </a:solidFill>
                <a:latin typeface="Open Sauce Bold"/>
                <a:ea typeface="Open Sauce Bold"/>
                <a:cs typeface="Open Sauce Bold"/>
                <a:sym typeface="Open Sauce Bold"/>
              </a:rPr>
              <a:t>Intelligent Network</a:t>
            </a:r>
          </a:p>
          <a:p>
            <a:pPr algn="l">
              <a:lnSpc>
                <a:spcPts val="7020"/>
              </a:lnSpc>
            </a:pPr>
            <a:r>
              <a:rPr lang="en-US" sz="5850" b="true">
                <a:solidFill>
                  <a:srgbClr val="13283D"/>
                </a:solidFill>
                <a:latin typeface="Open Sauce Bold"/>
                <a:ea typeface="Open Sauce Bold"/>
                <a:cs typeface="Open Sauce Bold"/>
                <a:sym typeface="Open Sauce Bold"/>
              </a:rPr>
              <a:t>Configuration Assistant</a:t>
            </a:r>
          </a:p>
        </p:txBody>
      </p:sp>
      <p:sp>
        <p:nvSpPr>
          <p:cNvPr name="TextBox 7" id="7"/>
          <p:cNvSpPr txBox="true"/>
          <p:nvPr/>
        </p:nvSpPr>
        <p:spPr>
          <a:xfrm rot="0">
            <a:off x="920115" y="3989070"/>
            <a:ext cx="15890557" cy="457200"/>
          </a:xfrm>
          <a:prstGeom prst="rect">
            <a:avLst/>
          </a:prstGeom>
        </p:spPr>
        <p:txBody>
          <a:bodyPr anchor="t" rtlCol="false" tIns="0" lIns="0" bIns="0" rIns="0">
            <a:spAutoFit/>
          </a:bodyPr>
          <a:lstStyle/>
          <a:p>
            <a:pPr algn="l">
              <a:lnSpc>
                <a:spcPts val="3644"/>
              </a:lnSpc>
            </a:pPr>
            <a:r>
              <a:rPr lang="en-US" sz="3037">
                <a:solidFill>
                  <a:srgbClr val="007E87"/>
                </a:solidFill>
                <a:latin typeface="Open Sauce"/>
                <a:ea typeface="Open Sauce"/>
                <a:cs typeface="Open Sauce"/>
                <a:sym typeface="Open Sauce"/>
              </a:rPr>
              <a:t>Local automation using MCP on Linux</a:t>
            </a:r>
          </a:p>
        </p:txBody>
      </p:sp>
      <p:sp>
        <p:nvSpPr>
          <p:cNvPr name="TextBox 8" id="8"/>
          <p:cNvSpPr txBox="true"/>
          <p:nvPr/>
        </p:nvSpPr>
        <p:spPr>
          <a:xfrm rot="0">
            <a:off x="920115" y="5203508"/>
            <a:ext cx="1679049" cy="476220"/>
          </a:xfrm>
          <a:prstGeom prst="rect">
            <a:avLst/>
          </a:prstGeom>
        </p:spPr>
        <p:txBody>
          <a:bodyPr anchor="t" rtlCol="false" tIns="0" lIns="0" bIns="0" rIns="0">
            <a:spAutoFit/>
          </a:bodyPr>
          <a:lstStyle/>
          <a:p>
            <a:pPr algn="l">
              <a:lnSpc>
                <a:spcPts val="3779"/>
              </a:lnSpc>
            </a:pPr>
            <a:r>
              <a:rPr lang="en-US" sz="3150" b="true">
                <a:solidFill>
                  <a:srgbClr val="13283D"/>
                </a:solidFill>
                <a:latin typeface="Open Sauce Bold"/>
                <a:ea typeface="Open Sauce Bold"/>
                <a:cs typeface="Open Sauce Bold"/>
                <a:sym typeface="Open Sauce Bold"/>
              </a:rPr>
              <a:t>Problem</a:t>
            </a:r>
          </a:p>
        </p:txBody>
      </p:sp>
      <p:sp>
        <p:nvSpPr>
          <p:cNvPr name="TextBox 9" id="9"/>
          <p:cNvSpPr txBox="true"/>
          <p:nvPr/>
        </p:nvSpPr>
        <p:spPr>
          <a:xfrm rot="0">
            <a:off x="920115" y="5917882"/>
            <a:ext cx="6732270" cy="1828800"/>
          </a:xfrm>
          <a:prstGeom prst="rect">
            <a:avLst/>
          </a:prstGeom>
        </p:spPr>
        <p:txBody>
          <a:bodyPr anchor="t" rtlCol="false" tIns="0" lIns="0" bIns="0" rIns="0">
            <a:spAutoFit/>
          </a:bodyPr>
          <a:lstStyle/>
          <a:p>
            <a:pPr algn="l">
              <a:lnSpc>
                <a:spcPts val="3644"/>
              </a:lnSpc>
            </a:pPr>
            <a:r>
              <a:rPr lang="en-US" sz="3037">
                <a:solidFill>
                  <a:srgbClr val="13283D"/>
                </a:solidFill>
                <a:latin typeface="Open Sauce"/>
                <a:ea typeface="Open Sauce"/>
                <a:cs typeface="Open Sauce"/>
                <a:sym typeface="Open Sauce"/>
              </a:rPr>
              <a:t>Manual network changes are easy to mistype and difficult to audit. Giving an LLM unrestricted shell access adds unnecesary risk.</a:t>
            </a:r>
          </a:p>
        </p:txBody>
      </p:sp>
      <p:sp>
        <p:nvSpPr>
          <p:cNvPr name="TextBox 10" id="10"/>
          <p:cNvSpPr txBox="true"/>
          <p:nvPr/>
        </p:nvSpPr>
        <p:spPr>
          <a:xfrm rot="0">
            <a:off x="8949690" y="5203508"/>
            <a:ext cx="2154287" cy="476220"/>
          </a:xfrm>
          <a:prstGeom prst="rect">
            <a:avLst/>
          </a:prstGeom>
        </p:spPr>
        <p:txBody>
          <a:bodyPr anchor="t" rtlCol="false" tIns="0" lIns="0" bIns="0" rIns="0">
            <a:spAutoFit/>
          </a:bodyPr>
          <a:lstStyle/>
          <a:p>
            <a:pPr algn="l">
              <a:lnSpc>
                <a:spcPts val="3779"/>
              </a:lnSpc>
            </a:pPr>
            <a:r>
              <a:rPr lang="en-US" sz="3150" b="true">
                <a:solidFill>
                  <a:srgbClr val="13283D"/>
                </a:solidFill>
                <a:latin typeface="Open Sauce Bold"/>
                <a:ea typeface="Open Sauce Bold"/>
                <a:cs typeface="Open Sauce Bold"/>
                <a:sym typeface="Open Sauce Bold"/>
              </a:rPr>
              <a:t>Objectives</a:t>
            </a:r>
          </a:p>
        </p:txBody>
      </p:sp>
      <p:sp>
        <p:nvSpPr>
          <p:cNvPr name="TextBox 11" id="11"/>
          <p:cNvSpPr txBox="true"/>
          <p:nvPr/>
        </p:nvSpPr>
        <p:spPr>
          <a:xfrm rot="0">
            <a:off x="8949690" y="5908357"/>
            <a:ext cx="8161020" cy="2200424"/>
          </a:xfrm>
          <a:prstGeom prst="rect">
            <a:avLst/>
          </a:prstGeom>
        </p:spPr>
        <p:txBody>
          <a:bodyPr anchor="t" rtlCol="false" tIns="0" lIns="0" bIns="0" rIns="0">
            <a:spAutoFit/>
          </a:bodyPr>
          <a:lstStyle/>
          <a:p>
            <a:pPr algn="l">
              <a:lnSpc>
                <a:spcPts val="3510"/>
              </a:lnSpc>
            </a:pPr>
            <a:r>
              <a:rPr lang="en-US" sz="2925">
                <a:solidFill>
                  <a:srgbClr val="13283D"/>
                </a:solidFill>
                <a:latin typeface="Open Sauce"/>
                <a:ea typeface="Open Sauce"/>
                <a:cs typeface="Open Sauce"/>
                <a:sym typeface="Open Sauce"/>
              </a:rPr>
              <a:t>Expose 10 constrained network tools.</a:t>
            </a:r>
          </a:p>
          <a:p>
            <a:pPr algn="l">
              <a:lnSpc>
                <a:spcPts val="3510"/>
              </a:lnSpc>
            </a:pPr>
            <a:r>
              <a:rPr lang="en-US" sz="2925">
                <a:solidFill>
                  <a:srgbClr val="13283D"/>
                </a:solidFill>
                <a:latin typeface="Open Sauce"/>
                <a:ea typeface="Open Sauce"/>
                <a:cs typeface="Open Sauce"/>
                <a:sym typeface="Open Sauce"/>
              </a:rPr>
              <a:t>Enforce validation and YAML policies.</a:t>
            </a:r>
          </a:p>
          <a:p>
            <a:pPr algn="l">
              <a:lnSpc>
                <a:spcPts val="3510"/>
              </a:lnSpc>
            </a:pPr>
            <a:r>
              <a:rPr lang="en-US" sz="2925">
                <a:solidFill>
                  <a:srgbClr val="13283D"/>
                </a:solidFill>
                <a:latin typeface="Open Sauce"/>
                <a:ea typeface="Open Sauce"/>
                <a:cs typeface="Open Sauce"/>
                <a:sym typeface="Open Sauce"/>
              </a:rPr>
              <a:t>Verify changes and record audit evidence.</a:t>
            </a:r>
          </a:p>
          <a:p>
            <a:pPr algn="l">
              <a:lnSpc>
                <a:spcPts val="3510"/>
              </a:lnSpc>
            </a:pPr>
            <a:r>
              <a:rPr lang="en-US" sz="2925">
                <a:solidFill>
                  <a:srgbClr val="13283D"/>
                </a:solidFill>
                <a:latin typeface="Open Sauce"/>
                <a:ea typeface="Open Sauce"/>
                <a:cs typeface="Open Sauce"/>
                <a:sym typeface="Open Sauce"/>
              </a:rPr>
              <a:t>Evaluate reliability and performance in containers.</a:t>
            </a:r>
          </a:p>
        </p:txBody>
      </p:sp>
      <p:sp>
        <p:nvSpPr>
          <p:cNvPr name="AutoShape 12" id="12"/>
          <p:cNvSpPr/>
          <p:nvPr/>
        </p:nvSpPr>
        <p:spPr>
          <a:xfrm>
            <a:off x="1045163" y="1499141"/>
            <a:ext cx="16214137" cy="0"/>
          </a:xfrm>
          <a:prstGeom prst="line">
            <a:avLst/>
          </a:prstGeom>
          <a:ln cap="flat" w="19050">
            <a:solidFill>
              <a:srgbClr val="424242"/>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1977201">
            <a:off x="8302125" y="-801031"/>
            <a:ext cx="12791303" cy="9442307"/>
          </a:xfrm>
          <a:custGeom>
            <a:avLst/>
            <a:gdLst/>
            <a:ahLst/>
            <a:cxnLst/>
            <a:rect r="r" b="b" t="t" l="l"/>
            <a:pathLst>
              <a:path h="9442307" w="12791303">
                <a:moveTo>
                  <a:pt x="0" y="0"/>
                </a:moveTo>
                <a:lnTo>
                  <a:pt x="12791302" y="0"/>
                </a:lnTo>
                <a:lnTo>
                  <a:pt x="12791302" y="9442307"/>
                </a:lnTo>
                <a:lnTo>
                  <a:pt x="0" y="9442307"/>
                </a:lnTo>
                <a:lnTo>
                  <a:pt x="0" y="0"/>
                </a:lnTo>
                <a:close/>
              </a:path>
            </a:pathLst>
          </a:custGeom>
          <a:blipFill>
            <a:blip r:embed="rId3">
              <a:alphaModFix amt="42000"/>
            </a:blip>
            <a:stretch>
              <a:fillRect l="0" t="0" r="0" b="0"/>
            </a:stretch>
          </a:blipFill>
        </p:spPr>
      </p:sp>
      <p:sp>
        <p:nvSpPr>
          <p:cNvPr name="TextBox 3" id="3"/>
          <p:cNvSpPr txBox="true"/>
          <p:nvPr/>
        </p:nvSpPr>
        <p:spPr>
          <a:xfrm rot="0">
            <a:off x="891540" y="555307"/>
            <a:ext cx="16504920" cy="704850"/>
          </a:xfrm>
          <a:prstGeom prst="rect">
            <a:avLst/>
          </a:prstGeom>
        </p:spPr>
        <p:txBody>
          <a:bodyPr anchor="t" rtlCol="false" tIns="0" lIns="0" bIns="0" rIns="0">
            <a:spAutoFit/>
          </a:bodyPr>
          <a:lstStyle/>
          <a:p>
            <a:pPr algn="l">
              <a:lnSpc>
                <a:spcPts val="5670"/>
              </a:lnSpc>
            </a:pPr>
            <a:r>
              <a:rPr lang="en-US" sz="4725" b="true">
                <a:solidFill>
                  <a:srgbClr val="13283D"/>
                </a:solidFill>
                <a:latin typeface="Open Sauce Bold"/>
                <a:ea typeface="Open Sauce Bold"/>
                <a:cs typeface="Open Sauce Bold"/>
                <a:sym typeface="Open Sauce Bold"/>
              </a:rPr>
              <a:t>Architecture / Mechanism</a:t>
            </a:r>
          </a:p>
        </p:txBody>
      </p:sp>
      <p:sp>
        <p:nvSpPr>
          <p:cNvPr name="TextBox 4" id="4"/>
          <p:cNvSpPr txBox="true"/>
          <p:nvPr/>
        </p:nvSpPr>
        <p:spPr>
          <a:xfrm rot="0">
            <a:off x="891540" y="9746932"/>
            <a:ext cx="4731127" cy="266730"/>
          </a:xfrm>
          <a:prstGeom prst="rect">
            <a:avLst/>
          </a:prstGeom>
        </p:spPr>
        <p:txBody>
          <a:bodyPr anchor="t" rtlCol="false" tIns="0" lIns="0" bIns="0" rIns="0">
            <a:spAutoFit/>
          </a:bodyPr>
          <a:lstStyle/>
          <a:p>
            <a:pPr algn="l">
              <a:lnSpc>
                <a:spcPts val="2160"/>
              </a:lnSpc>
            </a:pPr>
            <a:r>
              <a:rPr lang="en-US" sz="1800">
                <a:solidFill>
                  <a:srgbClr val="506176"/>
                </a:solidFill>
                <a:latin typeface="Open Sauce"/>
                <a:ea typeface="Open Sauce"/>
                <a:cs typeface="Open Sauce"/>
                <a:sym typeface="Open Sauce"/>
              </a:rPr>
              <a:t>Intelligent Network Configuration Assistant</a:t>
            </a:r>
          </a:p>
        </p:txBody>
      </p:sp>
      <p:sp>
        <p:nvSpPr>
          <p:cNvPr name="TextBox 5" id="5"/>
          <p:cNvSpPr txBox="true"/>
          <p:nvPr/>
        </p:nvSpPr>
        <p:spPr>
          <a:xfrm rot="0">
            <a:off x="16807815" y="9718357"/>
            <a:ext cx="338971" cy="304770"/>
          </a:xfrm>
          <a:prstGeom prst="rect">
            <a:avLst/>
          </a:prstGeom>
        </p:spPr>
        <p:txBody>
          <a:bodyPr anchor="t" rtlCol="false" tIns="0" lIns="0" bIns="0" rIns="0">
            <a:spAutoFit/>
          </a:bodyPr>
          <a:lstStyle/>
          <a:p>
            <a:pPr algn="l">
              <a:lnSpc>
                <a:spcPts val="2430"/>
              </a:lnSpc>
            </a:pPr>
            <a:r>
              <a:rPr lang="en-US" sz="2025" b="true">
                <a:solidFill>
                  <a:srgbClr val="007E87"/>
                </a:solidFill>
                <a:latin typeface="Open Sauce Bold"/>
                <a:ea typeface="Open Sauce Bold"/>
                <a:cs typeface="Open Sauce Bold"/>
                <a:sym typeface="Open Sauce Bold"/>
              </a:rPr>
              <a:t>02</a:t>
            </a:r>
          </a:p>
        </p:txBody>
      </p:sp>
      <p:sp>
        <p:nvSpPr>
          <p:cNvPr name="TextBox 6" id="6"/>
          <p:cNvSpPr txBox="true"/>
          <p:nvPr/>
        </p:nvSpPr>
        <p:spPr>
          <a:xfrm rot="0">
            <a:off x="891540" y="1645920"/>
            <a:ext cx="7377797" cy="457200"/>
          </a:xfrm>
          <a:prstGeom prst="rect">
            <a:avLst/>
          </a:prstGeom>
        </p:spPr>
        <p:txBody>
          <a:bodyPr anchor="t" rtlCol="false" tIns="0" lIns="0" bIns="0" rIns="0">
            <a:spAutoFit/>
          </a:bodyPr>
          <a:lstStyle/>
          <a:p>
            <a:pPr algn="l">
              <a:lnSpc>
                <a:spcPts val="3644"/>
              </a:lnSpc>
            </a:pPr>
            <a:r>
              <a:rPr lang="en-US" sz="3037" b="true">
                <a:solidFill>
                  <a:srgbClr val="007E87"/>
                </a:solidFill>
                <a:latin typeface="Open Sauce Bold"/>
                <a:ea typeface="Open Sauce Bold"/>
                <a:cs typeface="Open Sauce Bold"/>
                <a:sym typeface="Open Sauce Bold"/>
              </a:rPr>
              <a:t>Example request: “Block TCP port 23”</a:t>
            </a:r>
          </a:p>
        </p:txBody>
      </p:sp>
      <p:grpSp>
        <p:nvGrpSpPr>
          <p:cNvPr name="Group 7" id="7"/>
          <p:cNvGrpSpPr/>
          <p:nvPr/>
        </p:nvGrpSpPr>
        <p:grpSpPr>
          <a:xfrm rot="0">
            <a:off x="789384" y="2946797"/>
            <a:ext cx="4850606" cy="1450182"/>
            <a:chOff x="0" y="0"/>
            <a:chExt cx="6467475" cy="1933576"/>
          </a:xfrm>
        </p:grpSpPr>
        <p:sp>
          <p:nvSpPr>
            <p:cNvPr name="Freeform 8" id="8"/>
            <p:cNvSpPr/>
            <p:nvPr/>
          </p:nvSpPr>
          <p:spPr>
            <a:xfrm flipH="false" flipV="false" rot="0">
              <a:off x="0" y="0"/>
              <a:ext cx="6467475" cy="1933576"/>
            </a:xfrm>
            <a:custGeom>
              <a:avLst/>
              <a:gdLst/>
              <a:ahLst/>
              <a:cxnLst/>
              <a:rect r="r" b="b" t="t" l="l"/>
              <a:pathLst>
                <a:path h="1933576" w="6467475">
                  <a:moveTo>
                    <a:pt x="0" y="0"/>
                  </a:moveTo>
                  <a:lnTo>
                    <a:pt x="6467475" y="0"/>
                  </a:lnTo>
                  <a:lnTo>
                    <a:pt x="6467475" y="1933576"/>
                  </a:lnTo>
                  <a:lnTo>
                    <a:pt x="0" y="1933576"/>
                  </a:lnTo>
                  <a:close/>
                </a:path>
              </a:pathLst>
            </a:custGeom>
            <a:solidFill>
              <a:srgbClr val="FFFFFF"/>
            </a:solidFill>
            <a:ln w="21432" cap="sq">
              <a:solidFill>
                <a:srgbClr val="9EB2C2"/>
              </a:solidFill>
              <a:prstDash val="solid"/>
              <a:miter/>
            </a:ln>
          </p:spPr>
        </p:sp>
        <p:sp>
          <p:nvSpPr>
            <p:cNvPr name="TextBox 9" id="9"/>
            <p:cNvSpPr txBox="true"/>
            <p:nvPr/>
          </p:nvSpPr>
          <p:spPr>
            <a:xfrm>
              <a:off x="0" y="0"/>
              <a:ext cx="6467475" cy="1933576"/>
            </a:xfrm>
            <a:prstGeom prst="rect">
              <a:avLst/>
            </a:prstGeom>
          </p:spPr>
          <p:txBody>
            <a:bodyPr anchor="t" rtlCol="false" tIns="50800" lIns="50800" bIns="50800" rIns="50800"/>
            <a:lstStyle/>
            <a:p>
              <a:pPr algn="l">
                <a:lnSpc>
                  <a:spcPts val="3240"/>
                </a:lnSpc>
              </a:pPr>
              <a:r>
                <a:rPr lang="en-US" sz="2700">
                  <a:solidFill>
                    <a:srgbClr val="13283D"/>
                  </a:solidFill>
                  <a:latin typeface="Open Sauce"/>
                  <a:ea typeface="Open Sauce"/>
                  <a:cs typeface="Open Sauce"/>
                  <a:sym typeface="Open Sauce"/>
                </a:rPr>
                <a:t>2  Ollama + Qwen3</a:t>
              </a:r>
            </a:p>
            <a:p>
              <a:pPr algn="l">
                <a:lnSpc>
                  <a:spcPts val="3240"/>
                </a:lnSpc>
              </a:pPr>
              <a:r>
                <a:rPr lang="en-US" sz="2700">
                  <a:solidFill>
                    <a:srgbClr val="13283D"/>
                  </a:solidFill>
                  <a:latin typeface="Open Sauce"/>
                  <a:ea typeface="Open Sauce"/>
                  <a:cs typeface="Open Sauce"/>
                  <a:sym typeface="Open Sauce"/>
                </a:rPr>
                <a:t>Local HTTP, port 11434</a:t>
              </a:r>
            </a:p>
          </p:txBody>
        </p:sp>
      </p:grpSp>
      <p:grpSp>
        <p:nvGrpSpPr>
          <p:cNvPr name="Group 10" id="10"/>
          <p:cNvGrpSpPr/>
          <p:nvPr/>
        </p:nvGrpSpPr>
        <p:grpSpPr>
          <a:xfrm rot="0">
            <a:off x="6618684" y="2946797"/>
            <a:ext cx="4850606" cy="1450182"/>
            <a:chOff x="0" y="0"/>
            <a:chExt cx="6467475" cy="1933576"/>
          </a:xfrm>
        </p:grpSpPr>
        <p:sp>
          <p:nvSpPr>
            <p:cNvPr name="Freeform 11" id="11"/>
            <p:cNvSpPr/>
            <p:nvPr/>
          </p:nvSpPr>
          <p:spPr>
            <a:xfrm flipH="false" flipV="false" rot="0">
              <a:off x="0" y="0"/>
              <a:ext cx="6467475" cy="1933576"/>
            </a:xfrm>
            <a:custGeom>
              <a:avLst/>
              <a:gdLst/>
              <a:ahLst/>
              <a:cxnLst/>
              <a:rect r="r" b="b" t="t" l="l"/>
              <a:pathLst>
                <a:path h="1933576" w="6467475">
                  <a:moveTo>
                    <a:pt x="0" y="0"/>
                  </a:moveTo>
                  <a:lnTo>
                    <a:pt x="6467475" y="0"/>
                  </a:lnTo>
                  <a:lnTo>
                    <a:pt x="6467475" y="1933576"/>
                  </a:lnTo>
                  <a:lnTo>
                    <a:pt x="0" y="1933576"/>
                  </a:lnTo>
                  <a:close/>
                </a:path>
              </a:pathLst>
            </a:custGeom>
            <a:solidFill>
              <a:srgbClr val="FFFFFF"/>
            </a:solidFill>
            <a:ln w="21432" cap="sq">
              <a:solidFill>
                <a:srgbClr val="9EB2C2"/>
              </a:solidFill>
              <a:prstDash val="solid"/>
              <a:miter/>
            </a:ln>
          </p:spPr>
        </p:sp>
        <p:sp>
          <p:nvSpPr>
            <p:cNvPr name="TextBox 12" id="12"/>
            <p:cNvSpPr txBox="true"/>
            <p:nvPr/>
          </p:nvSpPr>
          <p:spPr>
            <a:xfrm>
              <a:off x="0" y="0"/>
              <a:ext cx="6467475" cy="1933576"/>
            </a:xfrm>
            <a:prstGeom prst="rect">
              <a:avLst/>
            </a:prstGeom>
          </p:spPr>
          <p:txBody>
            <a:bodyPr anchor="t" rtlCol="false" tIns="50800" lIns="50800" bIns="50800" rIns="50800"/>
            <a:lstStyle/>
            <a:p>
              <a:pPr algn="l">
                <a:lnSpc>
                  <a:spcPts val="3240"/>
                </a:lnSpc>
              </a:pPr>
              <a:r>
                <a:rPr lang="en-US" sz="2700">
                  <a:solidFill>
                    <a:srgbClr val="13283D"/>
                  </a:solidFill>
                  <a:latin typeface="Open Sauce"/>
                  <a:ea typeface="Open Sauce"/>
                  <a:cs typeface="Open Sauce"/>
                  <a:sym typeface="Open Sauce"/>
                </a:rPr>
                <a:t>1  Terminal client</a:t>
              </a:r>
            </a:p>
            <a:p>
              <a:pPr algn="l">
                <a:lnSpc>
                  <a:spcPts val="3240"/>
                </a:lnSpc>
              </a:pPr>
              <a:r>
                <a:rPr lang="en-US" sz="2700">
                  <a:solidFill>
                    <a:srgbClr val="13283D"/>
                  </a:solidFill>
                  <a:latin typeface="Open Sauce"/>
                  <a:ea typeface="Open Sauce"/>
                  <a:cs typeface="Open Sauce"/>
                  <a:sym typeface="Open Sauce"/>
                </a:rPr>
                <a:t>Linux: chat.py</a:t>
              </a:r>
            </a:p>
          </p:txBody>
        </p:sp>
      </p:grpSp>
      <p:grpSp>
        <p:nvGrpSpPr>
          <p:cNvPr name="Group 13" id="13"/>
          <p:cNvGrpSpPr/>
          <p:nvPr/>
        </p:nvGrpSpPr>
        <p:grpSpPr>
          <a:xfrm rot="0">
            <a:off x="12447984" y="2946797"/>
            <a:ext cx="4850606" cy="1450182"/>
            <a:chOff x="0" y="0"/>
            <a:chExt cx="6467475" cy="1933576"/>
          </a:xfrm>
        </p:grpSpPr>
        <p:sp>
          <p:nvSpPr>
            <p:cNvPr name="Freeform 14" id="14"/>
            <p:cNvSpPr/>
            <p:nvPr/>
          </p:nvSpPr>
          <p:spPr>
            <a:xfrm flipH="false" flipV="false" rot="0">
              <a:off x="0" y="0"/>
              <a:ext cx="6467475" cy="1933576"/>
            </a:xfrm>
            <a:custGeom>
              <a:avLst/>
              <a:gdLst/>
              <a:ahLst/>
              <a:cxnLst/>
              <a:rect r="r" b="b" t="t" l="l"/>
              <a:pathLst>
                <a:path h="1933576" w="6467475">
                  <a:moveTo>
                    <a:pt x="0" y="0"/>
                  </a:moveTo>
                  <a:lnTo>
                    <a:pt x="6467475" y="0"/>
                  </a:lnTo>
                  <a:lnTo>
                    <a:pt x="6467475" y="1933576"/>
                  </a:lnTo>
                  <a:lnTo>
                    <a:pt x="0" y="1933576"/>
                  </a:lnTo>
                  <a:close/>
                </a:path>
              </a:pathLst>
            </a:custGeom>
            <a:solidFill>
              <a:srgbClr val="FFFFFF"/>
            </a:solidFill>
            <a:ln w="21432" cap="sq">
              <a:solidFill>
                <a:srgbClr val="9EB2C2"/>
              </a:solidFill>
              <a:prstDash val="solid"/>
              <a:miter/>
            </a:ln>
          </p:spPr>
        </p:sp>
        <p:sp>
          <p:nvSpPr>
            <p:cNvPr name="TextBox 15" id="15"/>
            <p:cNvSpPr txBox="true"/>
            <p:nvPr/>
          </p:nvSpPr>
          <p:spPr>
            <a:xfrm>
              <a:off x="0" y="0"/>
              <a:ext cx="6467475" cy="1933576"/>
            </a:xfrm>
            <a:prstGeom prst="rect">
              <a:avLst/>
            </a:prstGeom>
          </p:spPr>
          <p:txBody>
            <a:bodyPr anchor="t" rtlCol="false" tIns="50800" lIns="50800" bIns="50800" rIns="50800"/>
            <a:lstStyle/>
            <a:p>
              <a:pPr algn="l">
                <a:lnSpc>
                  <a:spcPts val="3240"/>
                </a:lnSpc>
              </a:pPr>
              <a:r>
                <a:rPr lang="en-US" sz="2700">
                  <a:solidFill>
                    <a:srgbClr val="13283D"/>
                  </a:solidFill>
                  <a:latin typeface="Open Sauce"/>
                  <a:ea typeface="Open Sauce"/>
                  <a:cs typeface="Open Sauce"/>
                  <a:sym typeface="Open Sauce"/>
                </a:rPr>
                <a:t>3  MCP server</a:t>
              </a:r>
            </a:p>
            <a:p>
              <a:pPr algn="l">
                <a:lnSpc>
                  <a:spcPts val="3240"/>
                </a:lnSpc>
              </a:pPr>
              <a:r>
                <a:rPr lang="en-US" sz="2700">
                  <a:solidFill>
                    <a:srgbClr val="13283D"/>
                  </a:solidFill>
                  <a:latin typeface="Open Sauce"/>
                  <a:ea typeface="Open Sauce"/>
                  <a:cs typeface="Open Sauce"/>
                  <a:sym typeface="Open Sauce"/>
                </a:rPr>
                <a:t>Inside admin container</a:t>
              </a:r>
            </a:p>
          </p:txBody>
        </p:sp>
      </p:grpSp>
      <p:grpSp>
        <p:nvGrpSpPr>
          <p:cNvPr name="Group 16" id="16"/>
          <p:cNvGrpSpPr/>
          <p:nvPr/>
        </p:nvGrpSpPr>
        <p:grpSpPr>
          <a:xfrm rot="0">
            <a:off x="789384" y="5961459"/>
            <a:ext cx="4850606" cy="1450182"/>
            <a:chOff x="0" y="0"/>
            <a:chExt cx="6467475" cy="1933576"/>
          </a:xfrm>
        </p:grpSpPr>
        <p:sp>
          <p:nvSpPr>
            <p:cNvPr name="Freeform 17" id="17"/>
            <p:cNvSpPr/>
            <p:nvPr/>
          </p:nvSpPr>
          <p:spPr>
            <a:xfrm flipH="false" flipV="false" rot="0">
              <a:off x="0" y="0"/>
              <a:ext cx="6467475" cy="1933576"/>
            </a:xfrm>
            <a:custGeom>
              <a:avLst/>
              <a:gdLst/>
              <a:ahLst/>
              <a:cxnLst/>
              <a:rect r="r" b="b" t="t" l="l"/>
              <a:pathLst>
                <a:path h="1933576" w="6467475">
                  <a:moveTo>
                    <a:pt x="0" y="0"/>
                  </a:moveTo>
                  <a:lnTo>
                    <a:pt x="6467475" y="0"/>
                  </a:lnTo>
                  <a:lnTo>
                    <a:pt x="6467475" y="1933576"/>
                  </a:lnTo>
                  <a:lnTo>
                    <a:pt x="0" y="1933576"/>
                  </a:lnTo>
                  <a:close/>
                </a:path>
              </a:pathLst>
            </a:custGeom>
            <a:solidFill>
              <a:srgbClr val="FFFFFF"/>
            </a:solidFill>
            <a:ln w="21432" cap="sq">
              <a:solidFill>
                <a:srgbClr val="9EB2C2"/>
              </a:solidFill>
              <a:prstDash val="solid"/>
              <a:miter/>
            </a:ln>
          </p:spPr>
        </p:sp>
        <p:sp>
          <p:nvSpPr>
            <p:cNvPr name="TextBox 18" id="18"/>
            <p:cNvSpPr txBox="true"/>
            <p:nvPr/>
          </p:nvSpPr>
          <p:spPr>
            <a:xfrm>
              <a:off x="0" y="0"/>
              <a:ext cx="6467475" cy="1933576"/>
            </a:xfrm>
            <a:prstGeom prst="rect">
              <a:avLst/>
            </a:prstGeom>
          </p:spPr>
          <p:txBody>
            <a:bodyPr anchor="t" rtlCol="false" tIns="50800" lIns="50800" bIns="50800" rIns="50800"/>
            <a:lstStyle/>
            <a:p>
              <a:pPr algn="l">
                <a:lnSpc>
                  <a:spcPts val="3240"/>
                </a:lnSpc>
              </a:pPr>
              <a:r>
                <a:rPr lang="en-US" sz="2700">
                  <a:solidFill>
                    <a:srgbClr val="13283D"/>
                  </a:solidFill>
                  <a:latin typeface="Open Sauce"/>
                  <a:ea typeface="Open Sauce"/>
                  <a:cs typeface="Open Sauce"/>
                  <a:sym typeface="Open Sauce"/>
                </a:rPr>
                <a:t>6  Kernel + verification</a:t>
              </a:r>
            </a:p>
            <a:p>
              <a:pPr algn="l">
                <a:lnSpc>
                  <a:spcPts val="3240"/>
                </a:lnSpc>
              </a:pPr>
              <a:r>
                <a:rPr lang="en-US" sz="2700">
                  <a:solidFill>
                    <a:srgbClr val="13283D"/>
                  </a:solidFill>
                  <a:latin typeface="Open Sauce"/>
                  <a:ea typeface="Open Sauce"/>
                  <a:cs typeface="Open Sauce"/>
                  <a:sym typeface="Open Sauce"/>
                </a:rPr>
                <a:t>iptables, tc, ping, iperf3</a:t>
              </a:r>
            </a:p>
          </p:txBody>
        </p:sp>
      </p:grpSp>
      <p:grpSp>
        <p:nvGrpSpPr>
          <p:cNvPr name="Group 19" id="19"/>
          <p:cNvGrpSpPr/>
          <p:nvPr/>
        </p:nvGrpSpPr>
        <p:grpSpPr>
          <a:xfrm rot="0">
            <a:off x="6618684" y="5961459"/>
            <a:ext cx="4850606" cy="1450182"/>
            <a:chOff x="0" y="0"/>
            <a:chExt cx="6467475" cy="1933576"/>
          </a:xfrm>
        </p:grpSpPr>
        <p:sp>
          <p:nvSpPr>
            <p:cNvPr name="Freeform 20" id="20"/>
            <p:cNvSpPr/>
            <p:nvPr/>
          </p:nvSpPr>
          <p:spPr>
            <a:xfrm flipH="false" flipV="false" rot="0">
              <a:off x="0" y="0"/>
              <a:ext cx="6467475" cy="1933576"/>
            </a:xfrm>
            <a:custGeom>
              <a:avLst/>
              <a:gdLst/>
              <a:ahLst/>
              <a:cxnLst/>
              <a:rect r="r" b="b" t="t" l="l"/>
              <a:pathLst>
                <a:path h="1933576" w="6467475">
                  <a:moveTo>
                    <a:pt x="0" y="0"/>
                  </a:moveTo>
                  <a:lnTo>
                    <a:pt x="6467475" y="0"/>
                  </a:lnTo>
                  <a:lnTo>
                    <a:pt x="6467475" y="1933576"/>
                  </a:lnTo>
                  <a:lnTo>
                    <a:pt x="0" y="1933576"/>
                  </a:lnTo>
                  <a:close/>
                </a:path>
              </a:pathLst>
            </a:custGeom>
            <a:solidFill>
              <a:srgbClr val="FFFFFF"/>
            </a:solidFill>
            <a:ln w="21432" cap="sq">
              <a:solidFill>
                <a:srgbClr val="9EB2C2"/>
              </a:solidFill>
              <a:prstDash val="solid"/>
              <a:miter/>
            </a:ln>
          </p:spPr>
        </p:sp>
        <p:sp>
          <p:nvSpPr>
            <p:cNvPr name="TextBox 21" id="21"/>
            <p:cNvSpPr txBox="true"/>
            <p:nvPr/>
          </p:nvSpPr>
          <p:spPr>
            <a:xfrm>
              <a:off x="0" y="0"/>
              <a:ext cx="6467475" cy="1933576"/>
            </a:xfrm>
            <a:prstGeom prst="rect">
              <a:avLst/>
            </a:prstGeom>
          </p:spPr>
          <p:txBody>
            <a:bodyPr anchor="t" rtlCol="false" tIns="50800" lIns="50800" bIns="50800" rIns="50800"/>
            <a:lstStyle/>
            <a:p>
              <a:pPr algn="l">
                <a:lnSpc>
                  <a:spcPts val="3240"/>
                </a:lnSpc>
              </a:pPr>
              <a:r>
                <a:rPr lang="en-US" sz="2700">
                  <a:solidFill>
                    <a:srgbClr val="13283D"/>
                  </a:solidFill>
                  <a:latin typeface="Open Sauce"/>
                  <a:ea typeface="Open Sauce"/>
                  <a:cs typeface="Open Sauce"/>
                  <a:sym typeface="Open Sauce"/>
                </a:rPr>
                <a:t>5  Command runner</a:t>
              </a:r>
            </a:p>
            <a:p>
              <a:pPr algn="l">
                <a:lnSpc>
                  <a:spcPts val="3240"/>
                </a:lnSpc>
              </a:pPr>
              <a:r>
                <a:rPr lang="en-US" sz="2700">
                  <a:solidFill>
                    <a:srgbClr val="13283D"/>
                  </a:solidFill>
                  <a:latin typeface="Open Sauce"/>
                  <a:ea typeface="Open Sauce"/>
                  <a:cs typeface="Open Sauce"/>
                  <a:sym typeface="Open Sauce"/>
                </a:rPr>
                <a:t>Fixed arguments, shell=False</a:t>
              </a:r>
            </a:p>
          </p:txBody>
        </p:sp>
      </p:grpSp>
      <p:grpSp>
        <p:nvGrpSpPr>
          <p:cNvPr name="Group 22" id="22"/>
          <p:cNvGrpSpPr/>
          <p:nvPr/>
        </p:nvGrpSpPr>
        <p:grpSpPr>
          <a:xfrm rot="0">
            <a:off x="12447984" y="5961459"/>
            <a:ext cx="4850606" cy="1450182"/>
            <a:chOff x="0" y="0"/>
            <a:chExt cx="6467475" cy="1933576"/>
          </a:xfrm>
        </p:grpSpPr>
        <p:sp>
          <p:nvSpPr>
            <p:cNvPr name="Freeform 23" id="23"/>
            <p:cNvSpPr/>
            <p:nvPr/>
          </p:nvSpPr>
          <p:spPr>
            <a:xfrm flipH="false" flipV="false" rot="0">
              <a:off x="0" y="0"/>
              <a:ext cx="6467475" cy="1933576"/>
            </a:xfrm>
            <a:custGeom>
              <a:avLst/>
              <a:gdLst/>
              <a:ahLst/>
              <a:cxnLst/>
              <a:rect r="r" b="b" t="t" l="l"/>
              <a:pathLst>
                <a:path h="1933576" w="6467475">
                  <a:moveTo>
                    <a:pt x="0" y="0"/>
                  </a:moveTo>
                  <a:lnTo>
                    <a:pt x="6467475" y="0"/>
                  </a:lnTo>
                  <a:lnTo>
                    <a:pt x="6467475" y="1933576"/>
                  </a:lnTo>
                  <a:lnTo>
                    <a:pt x="0" y="1933576"/>
                  </a:lnTo>
                  <a:close/>
                </a:path>
              </a:pathLst>
            </a:custGeom>
            <a:solidFill>
              <a:srgbClr val="FFFFFF"/>
            </a:solidFill>
            <a:ln w="21432" cap="sq">
              <a:solidFill>
                <a:srgbClr val="9EB2C2"/>
              </a:solidFill>
              <a:prstDash val="solid"/>
              <a:miter/>
            </a:ln>
          </p:spPr>
        </p:sp>
        <p:sp>
          <p:nvSpPr>
            <p:cNvPr name="TextBox 24" id="24"/>
            <p:cNvSpPr txBox="true"/>
            <p:nvPr/>
          </p:nvSpPr>
          <p:spPr>
            <a:xfrm>
              <a:off x="0" y="0"/>
              <a:ext cx="6467475" cy="1933576"/>
            </a:xfrm>
            <a:prstGeom prst="rect">
              <a:avLst/>
            </a:prstGeom>
          </p:spPr>
          <p:txBody>
            <a:bodyPr anchor="t" rtlCol="false" tIns="50800" lIns="50800" bIns="50800" rIns="50800"/>
            <a:lstStyle/>
            <a:p>
              <a:pPr algn="l">
                <a:lnSpc>
                  <a:spcPts val="3240"/>
                </a:lnSpc>
              </a:pPr>
              <a:r>
                <a:rPr lang="en-US" sz="2700">
                  <a:solidFill>
                    <a:srgbClr val="13283D"/>
                  </a:solidFill>
                  <a:latin typeface="Open Sauce"/>
                  <a:ea typeface="Open Sauce"/>
                  <a:cs typeface="Open Sauce"/>
                  <a:sym typeface="Open Sauce"/>
                </a:rPr>
                <a:t>4  Validation + policy</a:t>
              </a:r>
            </a:p>
            <a:p>
              <a:pPr algn="l">
                <a:lnSpc>
                  <a:spcPts val="3240"/>
                </a:lnSpc>
              </a:pPr>
              <a:r>
                <a:rPr lang="en-US" sz="2700">
                  <a:solidFill>
                    <a:srgbClr val="13283D"/>
                  </a:solidFill>
                  <a:latin typeface="Open Sauce"/>
                  <a:ea typeface="Open Sauce"/>
                  <a:cs typeface="Open Sauce"/>
                  <a:sym typeface="Open Sauce"/>
                </a:rPr>
                <a:t>Python services and YAML</a:t>
              </a:r>
            </a:p>
          </p:txBody>
        </p:sp>
      </p:grpSp>
      <p:sp>
        <p:nvSpPr>
          <p:cNvPr name="AutoShape 25" id="25"/>
          <p:cNvSpPr/>
          <p:nvPr/>
        </p:nvSpPr>
        <p:spPr>
          <a:xfrm>
            <a:off x="5639991" y="3671888"/>
            <a:ext cx="978694" cy="0"/>
          </a:xfrm>
          <a:prstGeom prst="line">
            <a:avLst/>
          </a:prstGeom>
          <a:ln cap="rnd" w="19050">
            <a:solidFill>
              <a:srgbClr val="007E87"/>
            </a:solidFill>
            <a:prstDash val="solid"/>
            <a:headEnd type="triangle" len="med" w="lg"/>
            <a:tailEnd type="triangle" len="med" w="lg"/>
          </a:ln>
        </p:spPr>
      </p:sp>
      <p:sp>
        <p:nvSpPr>
          <p:cNvPr name="AutoShape 26" id="26"/>
          <p:cNvSpPr/>
          <p:nvPr/>
        </p:nvSpPr>
        <p:spPr>
          <a:xfrm>
            <a:off x="11469291" y="3671888"/>
            <a:ext cx="978694" cy="0"/>
          </a:xfrm>
          <a:prstGeom prst="line">
            <a:avLst/>
          </a:prstGeom>
          <a:ln cap="rnd" w="19050">
            <a:solidFill>
              <a:srgbClr val="007E87"/>
            </a:solidFill>
            <a:prstDash val="solid"/>
            <a:headEnd type="none" len="sm" w="sm"/>
            <a:tailEnd type="triangle" len="med" w="lg"/>
          </a:ln>
        </p:spPr>
      </p:sp>
      <p:sp>
        <p:nvSpPr>
          <p:cNvPr name="AutoShape 27" id="27"/>
          <p:cNvSpPr/>
          <p:nvPr/>
        </p:nvSpPr>
        <p:spPr>
          <a:xfrm>
            <a:off x="14873288" y="4396979"/>
            <a:ext cx="0" cy="1564480"/>
          </a:xfrm>
          <a:prstGeom prst="line">
            <a:avLst/>
          </a:prstGeom>
          <a:ln cap="rnd" w="19050">
            <a:solidFill>
              <a:srgbClr val="007E87"/>
            </a:solidFill>
            <a:prstDash val="solid"/>
            <a:headEnd type="none" len="sm" w="sm"/>
            <a:tailEnd type="triangle" len="med" w="lg"/>
          </a:ln>
        </p:spPr>
      </p:sp>
      <p:sp>
        <p:nvSpPr>
          <p:cNvPr name="AutoShape 28" id="28"/>
          <p:cNvSpPr/>
          <p:nvPr/>
        </p:nvSpPr>
        <p:spPr>
          <a:xfrm flipH="true">
            <a:off x="11469291" y="6686550"/>
            <a:ext cx="978694" cy="0"/>
          </a:xfrm>
          <a:prstGeom prst="line">
            <a:avLst/>
          </a:prstGeom>
          <a:ln cap="rnd" w="19050">
            <a:solidFill>
              <a:srgbClr val="007E87"/>
            </a:solidFill>
            <a:prstDash val="solid"/>
            <a:headEnd type="none" len="sm" w="sm"/>
            <a:tailEnd type="triangle" len="med" w="lg"/>
          </a:ln>
        </p:spPr>
      </p:sp>
      <p:sp>
        <p:nvSpPr>
          <p:cNvPr name="AutoShape 29" id="29"/>
          <p:cNvSpPr/>
          <p:nvPr/>
        </p:nvSpPr>
        <p:spPr>
          <a:xfrm flipH="true">
            <a:off x="5639991" y="6686550"/>
            <a:ext cx="978694" cy="0"/>
          </a:xfrm>
          <a:prstGeom prst="line">
            <a:avLst/>
          </a:prstGeom>
          <a:ln cap="rnd" w="19050">
            <a:solidFill>
              <a:srgbClr val="007E87"/>
            </a:solidFill>
            <a:prstDash val="solid"/>
            <a:headEnd type="none" len="sm" w="sm"/>
            <a:tailEnd type="triangle" len="med" w="lg"/>
          </a:ln>
        </p:spPr>
      </p:sp>
      <p:sp>
        <p:nvSpPr>
          <p:cNvPr name="TextBox 30" id="30"/>
          <p:cNvSpPr txBox="true"/>
          <p:nvPr/>
        </p:nvSpPr>
        <p:spPr>
          <a:xfrm rot="0">
            <a:off x="905828" y="4746308"/>
            <a:ext cx="11032807" cy="742950"/>
          </a:xfrm>
          <a:prstGeom prst="rect">
            <a:avLst/>
          </a:prstGeom>
        </p:spPr>
        <p:txBody>
          <a:bodyPr anchor="t" rtlCol="false" tIns="0" lIns="0" bIns="0" rIns="0">
            <a:spAutoFit/>
          </a:bodyPr>
          <a:lstStyle/>
          <a:p>
            <a:pPr algn="l">
              <a:lnSpc>
                <a:spcPts val="2970"/>
              </a:lnSpc>
            </a:pPr>
            <a:r>
              <a:rPr lang="en-US" sz="2475">
                <a:solidFill>
                  <a:srgbClr val="506176"/>
                </a:solidFill>
                <a:latin typeface="Open Sauce"/>
                <a:ea typeface="Open Sauce"/>
                <a:cs typeface="Open Sauce"/>
                <a:sym typeface="Open Sauce"/>
              </a:rPr>
              <a:t>Client receives JSON selection and sends MCP via Docker exec stdin/stdout</a:t>
            </a:r>
          </a:p>
        </p:txBody>
      </p:sp>
      <p:sp>
        <p:nvSpPr>
          <p:cNvPr name="TextBox 31" id="31"/>
          <p:cNvSpPr txBox="true"/>
          <p:nvPr/>
        </p:nvSpPr>
        <p:spPr>
          <a:xfrm rot="0">
            <a:off x="891540" y="7851457"/>
            <a:ext cx="10283964" cy="447705"/>
          </a:xfrm>
          <a:prstGeom prst="rect">
            <a:avLst/>
          </a:prstGeom>
        </p:spPr>
        <p:txBody>
          <a:bodyPr anchor="t" rtlCol="false" tIns="0" lIns="0" bIns="0" rIns="0">
            <a:spAutoFit/>
          </a:bodyPr>
          <a:lstStyle/>
          <a:p>
            <a:pPr algn="l">
              <a:lnSpc>
                <a:spcPts val="3510"/>
              </a:lnSpc>
            </a:pPr>
            <a:r>
              <a:rPr lang="en-US" sz="2925" b="true">
                <a:solidFill>
                  <a:srgbClr val="007E87"/>
                </a:solidFill>
                <a:latin typeface="Open Sauce Bold"/>
                <a:ea typeface="Open Sauce Bold"/>
                <a:cs typeface="Open Sauce Bold"/>
                <a:sym typeface="Open Sauce Bold"/>
              </a:rPr>
              <a:t>Audit JSONL and structured result return to the terminal</a:t>
            </a:r>
          </a:p>
        </p:txBody>
      </p:sp>
      <p:sp>
        <p:nvSpPr>
          <p:cNvPr name="TextBox 32" id="32"/>
          <p:cNvSpPr txBox="true"/>
          <p:nvPr/>
        </p:nvSpPr>
        <p:spPr>
          <a:xfrm rot="0">
            <a:off x="891540" y="8618220"/>
            <a:ext cx="16390620" cy="742950"/>
          </a:xfrm>
          <a:prstGeom prst="rect">
            <a:avLst/>
          </a:prstGeom>
        </p:spPr>
        <p:txBody>
          <a:bodyPr anchor="t" rtlCol="false" tIns="0" lIns="0" bIns="0" rIns="0">
            <a:spAutoFit/>
          </a:bodyPr>
          <a:lstStyle/>
          <a:p>
            <a:pPr algn="l">
              <a:lnSpc>
                <a:spcPts val="2970"/>
              </a:lnSpc>
            </a:pPr>
            <a:r>
              <a:rPr lang="en-US" sz="2475">
                <a:solidFill>
                  <a:srgbClr val="506176"/>
                </a:solidFill>
                <a:latin typeface="Open Sauce"/>
                <a:ea typeface="Open Sauce"/>
                <a:cs typeface="Open Sauce"/>
                <a:sym typeface="Open Sauce"/>
              </a:rPr>
              <a:t>Lab: admin .10, Client A .20, Client B .30 on 172.30.50.0/24.</a:t>
            </a:r>
          </a:p>
          <a:p>
            <a:pPr algn="l">
              <a:lnSpc>
                <a:spcPts val="2970"/>
              </a:lnSpc>
            </a:pPr>
            <a:r>
              <a:rPr lang="en-US" sz="2475">
                <a:solidFill>
                  <a:srgbClr val="506176"/>
                </a:solidFill>
                <a:latin typeface="Open Sauce"/>
                <a:ea typeface="Open Sauce"/>
                <a:cs typeface="Open Sauce"/>
                <a:sym typeface="Open Sauce"/>
              </a:rPr>
              <a:t>Admin controls its own traffic. Direct client-to-client traffic bypasses admin.</a:t>
            </a:r>
          </a:p>
        </p:txBody>
      </p:sp>
      <p:sp>
        <p:nvSpPr>
          <p:cNvPr name="AutoShape 33" id="33"/>
          <p:cNvSpPr/>
          <p:nvPr/>
        </p:nvSpPr>
        <p:spPr>
          <a:xfrm>
            <a:off x="1045163" y="1480091"/>
            <a:ext cx="16214137" cy="0"/>
          </a:xfrm>
          <a:prstGeom prst="line">
            <a:avLst/>
          </a:prstGeom>
          <a:ln cap="flat" w="19050">
            <a:solidFill>
              <a:srgbClr val="424242"/>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1977201">
            <a:off x="8302125" y="-801031"/>
            <a:ext cx="12791303" cy="9442307"/>
          </a:xfrm>
          <a:custGeom>
            <a:avLst/>
            <a:gdLst/>
            <a:ahLst/>
            <a:cxnLst/>
            <a:rect r="r" b="b" t="t" l="l"/>
            <a:pathLst>
              <a:path h="9442307" w="12791303">
                <a:moveTo>
                  <a:pt x="0" y="0"/>
                </a:moveTo>
                <a:lnTo>
                  <a:pt x="12791302" y="0"/>
                </a:lnTo>
                <a:lnTo>
                  <a:pt x="12791302" y="9442307"/>
                </a:lnTo>
                <a:lnTo>
                  <a:pt x="0" y="9442307"/>
                </a:lnTo>
                <a:lnTo>
                  <a:pt x="0" y="0"/>
                </a:lnTo>
                <a:close/>
              </a:path>
            </a:pathLst>
          </a:custGeom>
          <a:blipFill>
            <a:blip r:embed="rId3">
              <a:alphaModFix amt="42000"/>
            </a:blip>
            <a:stretch>
              <a:fillRect l="0" t="0" r="0" b="0"/>
            </a:stretch>
          </a:blipFill>
        </p:spPr>
      </p:sp>
      <p:sp>
        <p:nvSpPr>
          <p:cNvPr name="TextBox 3" id="3"/>
          <p:cNvSpPr txBox="true"/>
          <p:nvPr/>
        </p:nvSpPr>
        <p:spPr>
          <a:xfrm rot="0">
            <a:off x="891540" y="555307"/>
            <a:ext cx="16504920" cy="704850"/>
          </a:xfrm>
          <a:prstGeom prst="rect">
            <a:avLst/>
          </a:prstGeom>
        </p:spPr>
        <p:txBody>
          <a:bodyPr anchor="t" rtlCol="false" tIns="0" lIns="0" bIns="0" rIns="0">
            <a:spAutoFit/>
          </a:bodyPr>
          <a:lstStyle/>
          <a:p>
            <a:pPr algn="l">
              <a:lnSpc>
                <a:spcPts val="5670"/>
              </a:lnSpc>
            </a:pPr>
            <a:r>
              <a:rPr lang="en-US" sz="4725" b="true">
                <a:solidFill>
                  <a:srgbClr val="13283D"/>
                </a:solidFill>
                <a:latin typeface="Open Sauce Bold"/>
                <a:ea typeface="Open Sauce Bold"/>
                <a:cs typeface="Open Sauce Bold"/>
                <a:sym typeface="Open Sauce Bold"/>
              </a:rPr>
              <a:t>Issues Fixed / Evaluation</a:t>
            </a:r>
          </a:p>
        </p:txBody>
      </p:sp>
      <p:sp>
        <p:nvSpPr>
          <p:cNvPr name="TextBox 4" id="4"/>
          <p:cNvSpPr txBox="true"/>
          <p:nvPr/>
        </p:nvSpPr>
        <p:spPr>
          <a:xfrm rot="0">
            <a:off x="891540" y="9746932"/>
            <a:ext cx="4731127" cy="266730"/>
          </a:xfrm>
          <a:prstGeom prst="rect">
            <a:avLst/>
          </a:prstGeom>
        </p:spPr>
        <p:txBody>
          <a:bodyPr anchor="t" rtlCol="false" tIns="0" lIns="0" bIns="0" rIns="0">
            <a:spAutoFit/>
          </a:bodyPr>
          <a:lstStyle/>
          <a:p>
            <a:pPr algn="l">
              <a:lnSpc>
                <a:spcPts val="2160"/>
              </a:lnSpc>
            </a:pPr>
            <a:r>
              <a:rPr lang="en-US" sz="1800">
                <a:solidFill>
                  <a:srgbClr val="506176"/>
                </a:solidFill>
                <a:latin typeface="Open Sauce"/>
                <a:ea typeface="Open Sauce"/>
                <a:cs typeface="Open Sauce"/>
                <a:sym typeface="Open Sauce"/>
              </a:rPr>
              <a:t>Intelligent Network Configuration Assistant</a:t>
            </a:r>
          </a:p>
        </p:txBody>
      </p:sp>
      <p:sp>
        <p:nvSpPr>
          <p:cNvPr name="TextBox 5" id="5"/>
          <p:cNvSpPr txBox="true"/>
          <p:nvPr/>
        </p:nvSpPr>
        <p:spPr>
          <a:xfrm rot="0">
            <a:off x="16807815" y="9718357"/>
            <a:ext cx="342632" cy="304770"/>
          </a:xfrm>
          <a:prstGeom prst="rect">
            <a:avLst/>
          </a:prstGeom>
        </p:spPr>
        <p:txBody>
          <a:bodyPr anchor="t" rtlCol="false" tIns="0" lIns="0" bIns="0" rIns="0">
            <a:spAutoFit/>
          </a:bodyPr>
          <a:lstStyle/>
          <a:p>
            <a:pPr algn="l">
              <a:lnSpc>
                <a:spcPts val="2430"/>
              </a:lnSpc>
            </a:pPr>
            <a:r>
              <a:rPr lang="en-US" sz="2025" b="true">
                <a:solidFill>
                  <a:srgbClr val="007E87"/>
                </a:solidFill>
                <a:latin typeface="Open Sauce Bold"/>
                <a:ea typeface="Open Sauce Bold"/>
                <a:cs typeface="Open Sauce Bold"/>
                <a:sym typeface="Open Sauce Bold"/>
              </a:rPr>
              <a:t>03</a:t>
            </a:r>
          </a:p>
        </p:txBody>
      </p:sp>
      <p:graphicFrame>
        <p:nvGraphicFramePr>
          <p:cNvPr name="Table 6" id="6"/>
          <p:cNvGraphicFramePr>
            <a:graphicFrameLocks noGrp="true"/>
          </p:cNvGraphicFramePr>
          <p:nvPr/>
        </p:nvGraphicFramePr>
        <p:xfrm>
          <a:off x="800100" y="2411367"/>
          <a:ext cx="16687800" cy="2630091"/>
        </p:xfrm>
        <a:graphic>
          <a:graphicData uri="http://schemas.openxmlformats.org/drawingml/2006/table">
            <a:tbl>
              <a:tblPr/>
              <a:tblGrid>
                <a:gridCol w="4857750"/>
                <a:gridCol w="11830050"/>
              </a:tblGrid>
              <a:tr h="876697">
                <a:tc>
                  <a:txBody>
                    <a:bodyPr anchor="t" rtlCol="false"/>
                    <a:lstStyle/>
                    <a:p>
                      <a:pPr algn="l">
                        <a:lnSpc>
                          <a:spcPts val="3104"/>
                        </a:lnSpc>
                        <a:defRPr/>
                      </a:pPr>
                      <a:r>
                        <a:rPr lang="en-US" sz="2587" b="true">
                          <a:solidFill>
                            <a:srgbClr val="FFFFFF"/>
                          </a:solidFill>
                          <a:latin typeface="Open Sauce Bold"/>
                          <a:ea typeface="Open Sauce Bold"/>
                          <a:cs typeface="Open Sauce Bold"/>
                          <a:sym typeface="Open Sauce Bold"/>
                        </a:rPr>
                        <a:t>Issue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3283D"/>
                    </a:solidFill>
                  </a:tcPr>
                </a:tc>
                <a:tc>
                  <a:txBody>
                    <a:bodyPr anchor="t" rtlCol="false"/>
                    <a:lstStyle/>
                    <a:p>
                      <a:pPr algn="l">
                        <a:lnSpc>
                          <a:spcPts val="3104"/>
                        </a:lnSpc>
                        <a:defRPr/>
                      </a:pPr>
                      <a:r>
                        <a:rPr lang="en-US" sz="2587" b="true">
                          <a:solidFill>
                            <a:srgbClr val="FFFFFF"/>
                          </a:solidFill>
                          <a:latin typeface="Open Sauce Bold"/>
                          <a:ea typeface="Open Sauce Bold"/>
                          <a:cs typeface="Open Sauce Bold"/>
                          <a:sym typeface="Open Sauce Bold"/>
                        </a:rPr>
                        <a:t>Fix and observed outcome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3283D"/>
                    </a:solidFill>
                  </a:tcPr>
                </a:tc>
              </a:tr>
              <a:tr h="876697">
                <a:tc>
                  <a:txBody>
                    <a:bodyPr anchor="t" rtlCol="false"/>
                    <a:lstStyle/>
                    <a:p>
                      <a:pPr algn="l">
                        <a:lnSpc>
                          <a:spcPts val="3104"/>
                        </a:lnSpc>
                        <a:defRPr/>
                      </a:pPr>
                      <a:r>
                        <a:rPr lang="en-US" sz="2587">
                          <a:solidFill>
                            <a:srgbClr val="13283D"/>
                          </a:solidFill>
                          <a:latin typeface="Open Sauce"/>
                          <a:ea typeface="Open Sauce"/>
                          <a:cs typeface="Open Sauce"/>
                          <a:sym typeface="Open Sauce"/>
                        </a:rPr>
                        <a:t>Unsafe config changes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104"/>
                        </a:lnSpc>
                        <a:defRPr/>
                      </a:pPr>
                      <a:r>
                        <a:rPr lang="en-US" sz="2587">
                          <a:solidFill>
                            <a:srgbClr val="13283D"/>
                          </a:solidFill>
                          <a:latin typeface="Open Sauce"/>
                          <a:ea typeface="Open Sauce"/>
                          <a:cs typeface="Open Sauce"/>
                          <a:sym typeface="Open Sauce"/>
                        </a:rPr>
                        <a:t>Validation checks and YAML policy checks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76697">
                <a:tc>
                  <a:txBody>
                    <a:bodyPr anchor="t" rtlCol="false"/>
                    <a:lstStyle/>
                    <a:p>
                      <a:pPr algn="l">
                        <a:lnSpc>
                          <a:spcPts val="3104"/>
                        </a:lnSpc>
                        <a:defRPr/>
                      </a:pPr>
                      <a:r>
                        <a:rPr lang="en-US" sz="2587">
                          <a:solidFill>
                            <a:srgbClr val="13283D"/>
                          </a:solidFill>
                          <a:latin typeface="Open Sauce"/>
                          <a:ea typeface="Open Sauce"/>
                          <a:cs typeface="Open Sauce"/>
                          <a:sym typeface="Open Sauce"/>
                        </a:rPr>
                        <a:t>Limited traceiblility</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2F6"/>
                    </a:solidFill>
                  </a:tcPr>
                </a:tc>
                <a:tc>
                  <a:txBody>
                    <a:bodyPr anchor="t" rtlCol="false"/>
                    <a:lstStyle/>
                    <a:p>
                      <a:pPr algn="l">
                        <a:lnSpc>
                          <a:spcPts val="3104"/>
                        </a:lnSpc>
                        <a:defRPr/>
                      </a:pPr>
                      <a:r>
                        <a:rPr lang="en-US" sz="2587">
                          <a:solidFill>
                            <a:srgbClr val="13283D"/>
                          </a:solidFill>
                          <a:latin typeface="Open Sauce"/>
                          <a:ea typeface="Open Sauce"/>
                          <a:cs typeface="Open Sauce"/>
                          <a:sym typeface="Open Sauce"/>
                        </a:rPr>
                        <a:t>Recorded decisions and execution results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2F6"/>
                    </a:solidFill>
                  </a:tcPr>
                </a:tc>
              </a:tr>
            </a:tbl>
          </a:graphicData>
        </a:graphic>
      </p:graphicFrame>
      <p:sp>
        <p:nvSpPr>
          <p:cNvPr name="TextBox 7" id="7"/>
          <p:cNvSpPr txBox="true"/>
          <p:nvPr/>
        </p:nvSpPr>
        <p:spPr>
          <a:xfrm rot="0">
            <a:off x="891540" y="8118157"/>
            <a:ext cx="1062990" cy="819120"/>
          </a:xfrm>
          <a:prstGeom prst="rect">
            <a:avLst/>
          </a:prstGeom>
        </p:spPr>
        <p:txBody>
          <a:bodyPr anchor="t" rtlCol="false" tIns="0" lIns="0" bIns="0" rIns="0">
            <a:spAutoFit/>
          </a:bodyPr>
          <a:lstStyle/>
          <a:p>
            <a:pPr algn="l">
              <a:lnSpc>
                <a:spcPts val="6480"/>
              </a:lnSpc>
            </a:pPr>
            <a:r>
              <a:rPr lang="en-US" sz="5400" b="true">
                <a:solidFill>
                  <a:srgbClr val="007E87"/>
                </a:solidFill>
                <a:latin typeface="Open Sauce Bold"/>
                <a:ea typeface="Open Sauce Bold"/>
                <a:cs typeface="Open Sauce Bold"/>
                <a:sym typeface="Open Sauce Bold"/>
              </a:rPr>
              <a:t>121</a:t>
            </a:r>
          </a:p>
        </p:txBody>
      </p:sp>
      <p:sp>
        <p:nvSpPr>
          <p:cNvPr name="TextBox 8" id="8"/>
          <p:cNvSpPr txBox="true"/>
          <p:nvPr/>
        </p:nvSpPr>
        <p:spPr>
          <a:xfrm rot="0">
            <a:off x="891540" y="9046845"/>
            <a:ext cx="2745254" cy="390495"/>
          </a:xfrm>
          <a:prstGeom prst="rect">
            <a:avLst/>
          </a:prstGeom>
        </p:spPr>
        <p:txBody>
          <a:bodyPr anchor="t" rtlCol="false" tIns="0" lIns="0" bIns="0" rIns="0">
            <a:spAutoFit/>
          </a:bodyPr>
          <a:lstStyle/>
          <a:p>
            <a:pPr algn="l">
              <a:lnSpc>
                <a:spcPts val="3104"/>
              </a:lnSpc>
            </a:pPr>
            <a:r>
              <a:rPr lang="en-US" sz="2587">
                <a:solidFill>
                  <a:srgbClr val="13283D"/>
                </a:solidFill>
                <a:latin typeface="Open Sauce"/>
                <a:ea typeface="Open Sauce"/>
                <a:cs typeface="Open Sauce"/>
                <a:sym typeface="Open Sauce"/>
              </a:rPr>
              <a:t>unit tests passed</a:t>
            </a:r>
          </a:p>
        </p:txBody>
      </p:sp>
      <p:sp>
        <p:nvSpPr>
          <p:cNvPr name="TextBox 9" id="9"/>
          <p:cNvSpPr txBox="true"/>
          <p:nvPr/>
        </p:nvSpPr>
        <p:spPr>
          <a:xfrm rot="0">
            <a:off x="6706553" y="8118157"/>
            <a:ext cx="2411998" cy="819120"/>
          </a:xfrm>
          <a:prstGeom prst="rect">
            <a:avLst/>
          </a:prstGeom>
        </p:spPr>
        <p:txBody>
          <a:bodyPr anchor="t" rtlCol="false" tIns="0" lIns="0" bIns="0" rIns="0">
            <a:spAutoFit/>
          </a:bodyPr>
          <a:lstStyle/>
          <a:p>
            <a:pPr algn="l">
              <a:lnSpc>
                <a:spcPts val="6480"/>
              </a:lnSpc>
            </a:pPr>
            <a:r>
              <a:rPr lang="en-US" sz="5400" b="true">
                <a:solidFill>
                  <a:srgbClr val="007E87"/>
                </a:solidFill>
                <a:latin typeface="Open Sauce Bold"/>
                <a:ea typeface="Open Sauce Bold"/>
                <a:cs typeface="Open Sauce Bold"/>
                <a:sym typeface="Open Sauce Bold"/>
              </a:rPr>
              <a:t>79 / 79</a:t>
            </a:r>
          </a:p>
        </p:txBody>
      </p:sp>
      <p:sp>
        <p:nvSpPr>
          <p:cNvPr name="TextBox 10" id="10"/>
          <p:cNvSpPr txBox="true"/>
          <p:nvPr/>
        </p:nvSpPr>
        <p:spPr>
          <a:xfrm rot="0">
            <a:off x="6706553" y="9046845"/>
            <a:ext cx="4096494" cy="390495"/>
          </a:xfrm>
          <a:prstGeom prst="rect">
            <a:avLst/>
          </a:prstGeom>
        </p:spPr>
        <p:txBody>
          <a:bodyPr anchor="t" rtlCol="false" tIns="0" lIns="0" bIns="0" rIns="0">
            <a:spAutoFit/>
          </a:bodyPr>
          <a:lstStyle/>
          <a:p>
            <a:pPr algn="l">
              <a:lnSpc>
                <a:spcPts val="3104"/>
              </a:lnSpc>
            </a:pPr>
            <a:r>
              <a:rPr lang="en-US" sz="2587">
                <a:solidFill>
                  <a:srgbClr val="13283D"/>
                </a:solidFill>
                <a:latin typeface="Open Sauce"/>
                <a:ea typeface="Open Sauce"/>
                <a:cs typeface="Open Sauce"/>
                <a:sym typeface="Open Sauce"/>
              </a:rPr>
              <a:t>application audit matches</a:t>
            </a:r>
          </a:p>
        </p:txBody>
      </p:sp>
      <p:sp>
        <p:nvSpPr>
          <p:cNvPr name="TextBox 11" id="11"/>
          <p:cNvSpPr txBox="true"/>
          <p:nvPr/>
        </p:nvSpPr>
        <p:spPr>
          <a:xfrm rot="0">
            <a:off x="12593002" y="8118157"/>
            <a:ext cx="3187988" cy="733395"/>
          </a:xfrm>
          <a:prstGeom prst="rect">
            <a:avLst/>
          </a:prstGeom>
        </p:spPr>
        <p:txBody>
          <a:bodyPr anchor="t" rtlCol="false" tIns="0" lIns="0" bIns="0" rIns="0">
            <a:spAutoFit/>
          </a:bodyPr>
          <a:lstStyle/>
          <a:p>
            <a:pPr algn="l">
              <a:lnSpc>
                <a:spcPts val="5805"/>
              </a:lnSpc>
            </a:pPr>
            <a:r>
              <a:rPr lang="en-US" sz="4837" b="true">
                <a:solidFill>
                  <a:srgbClr val="007E87"/>
                </a:solidFill>
                <a:latin typeface="Open Sauce Bold"/>
                <a:ea typeface="Open Sauce Bold"/>
                <a:cs typeface="Open Sauce Bold"/>
                <a:sym typeface="Open Sauce Bold"/>
              </a:rPr>
              <a:t>4.74 Mbps</a:t>
            </a:r>
          </a:p>
        </p:txBody>
      </p:sp>
      <p:sp>
        <p:nvSpPr>
          <p:cNvPr name="TextBox 12" id="12"/>
          <p:cNvSpPr txBox="true"/>
          <p:nvPr/>
        </p:nvSpPr>
        <p:spPr>
          <a:xfrm rot="0">
            <a:off x="12593002" y="9046845"/>
            <a:ext cx="4205704" cy="371475"/>
          </a:xfrm>
          <a:prstGeom prst="rect">
            <a:avLst/>
          </a:prstGeom>
        </p:spPr>
        <p:txBody>
          <a:bodyPr anchor="t" rtlCol="false" tIns="0" lIns="0" bIns="0" rIns="0">
            <a:spAutoFit/>
          </a:bodyPr>
          <a:lstStyle/>
          <a:p>
            <a:pPr algn="l">
              <a:lnSpc>
                <a:spcPts val="2970"/>
              </a:lnSpc>
            </a:pPr>
            <a:r>
              <a:rPr lang="en-US" sz="2475">
                <a:solidFill>
                  <a:srgbClr val="13283D"/>
                </a:solidFill>
                <a:latin typeface="Open Sauce"/>
                <a:ea typeface="Open Sauce"/>
                <a:cs typeface="Open Sauce"/>
                <a:sym typeface="Open Sauce"/>
              </a:rPr>
              <a:t>received with a 5 Mbps cap</a:t>
            </a:r>
          </a:p>
        </p:txBody>
      </p:sp>
      <p:sp>
        <p:nvSpPr>
          <p:cNvPr name="AutoShape 13" id="13"/>
          <p:cNvSpPr/>
          <p:nvPr/>
        </p:nvSpPr>
        <p:spPr>
          <a:xfrm>
            <a:off x="1045163" y="1480091"/>
            <a:ext cx="16214137" cy="0"/>
          </a:xfrm>
          <a:prstGeom prst="line">
            <a:avLst/>
          </a:prstGeom>
          <a:ln cap="flat" w="19050">
            <a:solidFill>
              <a:srgbClr val="424242"/>
            </a:solidFill>
            <a:prstDash val="solid"/>
            <a:headEnd type="none" len="sm" w="sm"/>
            <a:tailEnd type="none" len="sm" w="sm"/>
          </a:ln>
        </p:spPr>
      </p:sp>
      <p:sp>
        <p:nvSpPr>
          <p:cNvPr name="TextBox 14" id="14"/>
          <p:cNvSpPr txBox="true"/>
          <p:nvPr/>
        </p:nvSpPr>
        <p:spPr>
          <a:xfrm rot="0">
            <a:off x="891540" y="5455981"/>
            <a:ext cx="16001729" cy="3005531"/>
          </a:xfrm>
          <a:prstGeom prst="rect">
            <a:avLst/>
          </a:prstGeom>
        </p:spPr>
        <p:txBody>
          <a:bodyPr anchor="t" rtlCol="false" tIns="0" lIns="0" bIns="0" rIns="0">
            <a:spAutoFit/>
          </a:bodyPr>
          <a:lstStyle/>
          <a:p>
            <a:pPr algn="just">
              <a:lnSpc>
                <a:spcPts val="4022"/>
              </a:lnSpc>
            </a:pPr>
            <a:r>
              <a:rPr lang="en-US" sz="2700">
                <a:solidFill>
                  <a:srgbClr val="000000"/>
                </a:solidFill>
                <a:latin typeface="Open Sauce"/>
                <a:ea typeface="Open Sauce"/>
                <a:cs typeface="Open Sauce"/>
                <a:sym typeface="Open Sauce"/>
              </a:rPr>
              <a:t>Improvements:</a:t>
            </a:r>
          </a:p>
          <a:p>
            <a:pPr algn="just" marL="582930" indent="-291465" lvl="1">
              <a:lnSpc>
                <a:spcPts val="4022"/>
              </a:lnSpc>
              <a:buFont typeface="Arial"/>
              <a:buChar char="•"/>
            </a:pPr>
            <a:r>
              <a:rPr lang="en-US" sz="2700">
                <a:solidFill>
                  <a:srgbClr val="000000"/>
                </a:solidFill>
                <a:latin typeface="Open Sauce"/>
                <a:ea typeface="Open Sauce"/>
                <a:cs typeface="Open Sauce"/>
                <a:sym typeface="Open Sauce"/>
              </a:rPr>
              <a:t>Controlled AI execution: Only approved MCP tools can trigger network operations.</a:t>
            </a:r>
          </a:p>
          <a:p>
            <a:pPr algn="just" marL="582930" indent="-291465" lvl="1">
              <a:lnSpc>
                <a:spcPts val="4022"/>
              </a:lnSpc>
              <a:buFont typeface="Arial"/>
              <a:buChar char="•"/>
            </a:pPr>
            <a:r>
              <a:rPr lang="en-US" sz="2700">
                <a:solidFill>
                  <a:srgbClr val="000000"/>
                </a:solidFill>
                <a:latin typeface="Open Sauce"/>
                <a:ea typeface="Open Sauce"/>
                <a:cs typeface="Open Sauce"/>
                <a:sym typeface="Open Sauce"/>
              </a:rPr>
              <a:t>Safer testing: Dry-run mode previews operations before live execution.</a:t>
            </a:r>
          </a:p>
          <a:p>
            <a:pPr algn="just" marL="582930" indent="-291465" lvl="1">
              <a:lnSpc>
                <a:spcPts val="4022"/>
              </a:lnSpc>
              <a:buFont typeface="Arial"/>
              <a:buChar char="•"/>
            </a:pPr>
            <a:r>
              <a:rPr lang="en-US" sz="2700">
                <a:solidFill>
                  <a:srgbClr val="000000"/>
                </a:solidFill>
                <a:latin typeface="Open Sauce"/>
                <a:ea typeface="Open Sauce"/>
                <a:cs typeface="Open Sauce"/>
                <a:sym typeface="Open Sauce"/>
              </a:rPr>
              <a:t>Simplified administration: Natural-language requests reduce dependence on command syntax.</a:t>
            </a:r>
          </a:p>
          <a:p>
            <a:pPr algn="just">
              <a:lnSpc>
                <a:spcPts val="4022"/>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1977201">
            <a:off x="8302125" y="-801031"/>
            <a:ext cx="12791303" cy="9442307"/>
          </a:xfrm>
          <a:custGeom>
            <a:avLst/>
            <a:gdLst/>
            <a:ahLst/>
            <a:cxnLst/>
            <a:rect r="r" b="b" t="t" l="l"/>
            <a:pathLst>
              <a:path h="9442307" w="12791303">
                <a:moveTo>
                  <a:pt x="0" y="0"/>
                </a:moveTo>
                <a:lnTo>
                  <a:pt x="12791302" y="0"/>
                </a:lnTo>
                <a:lnTo>
                  <a:pt x="12791302" y="9442307"/>
                </a:lnTo>
                <a:lnTo>
                  <a:pt x="0" y="9442307"/>
                </a:lnTo>
                <a:lnTo>
                  <a:pt x="0" y="0"/>
                </a:lnTo>
                <a:close/>
              </a:path>
            </a:pathLst>
          </a:custGeom>
          <a:blipFill>
            <a:blip r:embed="rId3">
              <a:alphaModFix amt="42000"/>
            </a:blip>
            <a:stretch>
              <a:fillRect l="0" t="0" r="0" b="0"/>
            </a:stretch>
          </a:blipFill>
        </p:spPr>
      </p:sp>
      <p:sp>
        <p:nvSpPr>
          <p:cNvPr name="TextBox 3" id="3"/>
          <p:cNvSpPr txBox="true"/>
          <p:nvPr/>
        </p:nvSpPr>
        <p:spPr>
          <a:xfrm rot="0">
            <a:off x="891540" y="555307"/>
            <a:ext cx="16504920" cy="704850"/>
          </a:xfrm>
          <a:prstGeom prst="rect">
            <a:avLst/>
          </a:prstGeom>
        </p:spPr>
        <p:txBody>
          <a:bodyPr anchor="t" rtlCol="false" tIns="0" lIns="0" bIns="0" rIns="0">
            <a:spAutoFit/>
          </a:bodyPr>
          <a:lstStyle/>
          <a:p>
            <a:pPr algn="l">
              <a:lnSpc>
                <a:spcPts val="5670"/>
              </a:lnSpc>
            </a:pPr>
            <a:r>
              <a:rPr lang="en-US" sz="4725" b="true">
                <a:solidFill>
                  <a:srgbClr val="13283D"/>
                </a:solidFill>
                <a:latin typeface="Open Sauce Bold"/>
                <a:ea typeface="Open Sauce Bold"/>
                <a:cs typeface="Open Sauce Bold"/>
                <a:sym typeface="Open Sauce Bold"/>
              </a:rPr>
              <a:t>Non-Functional Testing Parameters</a:t>
            </a:r>
          </a:p>
        </p:txBody>
      </p:sp>
      <p:sp>
        <p:nvSpPr>
          <p:cNvPr name="TextBox 4" id="4"/>
          <p:cNvSpPr txBox="true"/>
          <p:nvPr/>
        </p:nvSpPr>
        <p:spPr>
          <a:xfrm rot="0">
            <a:off x="891540" y="9746932"/>
            <a:ext cx="4731127" cy="266730"/>
          </a:xfrm>
          <a:prstGeom prst="rect">
            <a:avLst/>
          </a:prstGeom>
        </p:spPr>
        <p:txBody>
          <a:bodyPr anchor="t" rtlCol="false" tIns="0" lIns="0" bIns="0" rIns="0">
            <a:spAutoFit/>
          </a:bodyPr>
          <a:lstStyle/>
          <a:p>
            <a:pPr algn="l">
              <a:lnSpc>
                <a:spcPts val="2160"/>
              </a:lnSpc>
            </a:pPr>
            <a:r>
              <a:rPr lang="en-US" sz="1800">
                <a:solidFill>
                  <a:srgbClr val="506176"/>
                </a:solidFill>
                <a:latin typeface="Open Sauce"/>
                <a:ea typeface="Open Sauce"/>
                <a:cs typeface="Open Sauce"/>
                <a:sym typeface="Open Sauce"/>
              </a:rPr>
              <a:t>Intelligent Network Configuration Assistant</a:t>
            </a:r>
          </a:p>
        </p:txBody>
      </p:sp>
      <p:sp>
        <p:nvSpPr>
          <p:cNvPr name="TextBox 5" id="5"/>
          <p:cNvSpPr txBox="true"/>
          <p:nvPr/>
        </p:nvSpPr>
        <p:spPr>
          <a:xfrm rot="0">
            <a:off x="16807815" y="9718357"/>
            <a:ext cx="338703" cy="304770"/>
          </a:xfrm>
          <a:prstGeom prst="rect">
            <a:avLst/>
          </a:prstGeom>
        </p:spPr>
        <p:txBody>
          <a:bodyPr anchor="t" rtlCol="false" tIns="0" lIns="0" bIns="0" rIns="0">
            <a:spAutoFit/>
          </a:bodyPr>
          <a:lstStyle/>
          <a:p>
            <a:pPr algn="l">
              <a:lnSpc>
                <a:spcPts val="2430"/>
              </a:lnSpc>
            </a:pPr>
            <a:r>
              <a:rPr lang="en-US" sz="2025" b="true">
                <a:solidFill>
                  <a:srgbClr val="007E87"/>
                </a:solidFill>
                <a:latin typeface="Open Sauce Bold"/>
                <a:ea typeface="Open Sauce Bold"/>
                <a:cs typeface="Open Sauce Bold"/>
                <a:sym typeface="Open Sauce Bold"/>
              </a:rPr>
              <a:t>04</a:t>
            </a:r>
          </a:p>
        </p:txBody>
      </p:sp>
      <p:graphicFrame>
        <p:nvGraphicFramePr>
          <p:cNvPr name="Table 6" id="6"/>
          <p:cNvGraphicFramePr>
            <a:graphicFrameLocks noGrp="true"/>
          </p:cNvGraphicFramePr>
          <p:nvPr/>
        </p:nvGraphicFramePr>
        <p:xfrm>
          <a:off x="800100" y="1434074"/>
          <a:ext cx="16668750" cy="4096544"/>
        </p:xfrm>
        <a:graphic>
          <a:graphicData uri="http://schemas.openxmlformats.org/drawingml/2006/table">
            <a:tbl>
              <a:tblPr/>
              <a:tblGrid>
                <a:gridCol w="3553526"/>
                <a:gridCol w="13115224"/>
              </a:tblGrid>
              <a:tr h="685804">
                <a:tc>
                  <a:txBody>
                    <a:bodyPr anchor="t" rtlCol="false"/>
                    <a:lstStyle/>
                    <a:p>
                      <a:pPr algn="l">
                        <a:lnSpc>
                          <a:spcPts val="3104"/>
                        </a:lnSpc>
                        <a:defRPr/>
                      </a:pPr>
                      <a:r>
                        <a:rPr lang="en-US" sz="2587" b="true">
                          <a:solidFill>
                            <a:srgbClr val="FFFFFF"/>
                          </a:solidFill>
                          <a:latin typeface="Open Sauce Bold"/>
                          <a:ea typeface="Open Sauce Bold"/>
                          <a:cs typeface="Open Sauce Bold"/>
                          <a:sym typeface="Open Sauce Bold"/>
                        </a:rPr>
                        <a:t>Parameter</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3283D"/>
                    </a:solidFill>
                  </a:tcPr>
                </a:tc>
                <a:tc>
                  <a:txBody>
                    <a:bodyPr anchor="t" rtlCol="false"/>
                    <a:lstStyle/>
                    <a:p>
                      <a:pPr algn="l">
                        <a:lnSpc>
                          <a:spcPts val="3104"/>
                        </a:lnSpc>
                        <a:defRPr/>
                      </a:pPr>
                      <a:r>
                        <a:rPr lang="en-US" sz="2587" b="true">
                          <a:solidFill>
                            <a:srgbClr val="FFFFFF"/>
                          </a:solidFill>
                          <a:latin typeface="Open Sauce Bold"/>
                          <a:ea typeface="Open Sauce Bold"/>
                          <a:cs typeface="Open Sauce Bold"/>
                          <a:sym typeface="Open Sauce Bold"/>
                        </a:rPr>
                        <a:t>Method / evidence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3283D"/>
                    </a:solidFill>
                  </a:tcPr>
                </a:tc>
              </a:tr>
              <a:tr h="685804">
                <a:tc>
                  <a:txBody>
                    <a:bodyPr anchor="t" rtlCol="false"/>
                    <a:lstStyle/>
                    <a:p>
                      <a:pPr algn="l">
                        <a:lnSpc>
                          <a:spcPts val="3104"/>
                        </a:lnSpc>
                        <a:defRPr/>
                      </a:pPr>
                      <a:r>
                        <a:rPr lang="en-US" sz="2587">
                          <a:solidFill>
                            <a:srgbClr val="13283D"/>
                          </a:solidFill>
                          <a:latin typeface="Open Sauce"/>
                          <a:ea typeface="Open Sauce"/>
                          <a:cs typeface="Open Sauce"/>
                          <a:sym typeface="Open Sauce"/>
                        </a:rPr>
                        <a:t>Security</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104"/>
                        </a:lnSpc>
                        <a:defRPr/>
                      </a:pPr>
                      <a:r>
                        <a:rPr lang="en-US" sz="2587">
                          <a:solidFill>
                            <a:srgbClr val="13283D"/>
                          </a:solidFill>
                          <a:latin typeface="Open Sauce"/>
                          <a:ea typeface="Open Sauce"/>
                          <a:cs typeface="Open Sauce"/>
                          <a:sym typeface="Open Sauce"/>
                        </a:rPr>
                        <a:t>Protected port, malformed IP and outside-lab requests rejected.</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67526">
                <a:tc>
                  <a:txBody>
                    <a:bodyPr anchor="t" rtlCol="false"/>
                    <a:lstStyle/>
                    <a:p>
                      <a:pPr algn="l">
                        <a:lnSpc>
                          <a:spcPts val="3104"/>
                        </a:lnSpc>
                        <a:defRPr/>
                      </a:pPr>
                      <a:r>
                        <a:rPr lang="en-US" sz="2587">
                          <a:solidFill>
                            <a:srgbClr val="13283D"/>
                          </a:solidFill>
                          <a:latin typeface="Open Sauce"/>
                          <a:ea typeface="Open Sauce"/>
                          <a:cs typeface="Open Sauce"/>
                          <a:sym typeface="Open Sauce"/>
                        </a:rPr>
                        <a:t>Reliability</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2F6"/>
                    </a:solidFill>
                  </a:tcPr>
                </a:tc>
                <a:tc>
                  <a:txBody>
                    <a:bodyPr anchor="t" rtlCol="false"/>
                    <a:lstStyle/>
                    <a:p>
                      <a:pPr algn="l">
                        <a:lnSpc>
                          <a:spcPts val="3104"/>
                        </a:lnSpc>
                        <a:defRPr/>
                      </a:pPr>
                      <a:r>
                        <a:rPr lang="en-US" sz="2587">
                          <a:solidFill>
                            <a:srgbClr val="13283D"/>
                          </a:solidFill>
                          <a:latin typeface="Open Sauce"/>
                          <a:ea typeface="Open Sauce"/>
                          <a:cs typeface="Open Sauce"/>
                          <a:sym typeface="Open Sauce"/>
                        </a:rPr>
                        <a:t>8 concurrent calls results in 1 change and 7 no-ops.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2F6"/>
                    </a:solidFill>
                  </a:tcPr>
                </a:tc>
              </a:tr>
              <a:tr h="685804">
                <a:tc>
                  <a:txBody>
                    <a:bodyPr anchor="t" rtlCol="false"/>
                    <a:lstStyle/>
                    <a:p>
                      <a:pPr algn="l">
                        <a:lnSpc>
                          <a:spcPts val="3104"/>
                        </a:lnSpc>
                        <a:defRPr/>
                      </a:pPr>
                      <a:r>
                        <a:rPr lang="en-US" sz="2587">
                          <a:solidFill>
                            <a:srgbClr val="13283D"/>
                          </a:solidFill>
                          <a:latin typeface="Open Sauce"/>
                          <a:ea typeface="Open Sauce"/>
                          <a:cs typeface="Open Sauce"/>
                          <a:sym typeface="Open Sauce"/>
                        </a:rPr>
                        <a:t>Auditability</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104"/>
                        </a:lnSpc>
                        <a:defRPr/>
                      </a:pPr>
                      <a:r>
                        <a:rPr lang="en-US" sz="2587">
                          <a:solidFill>
                            <a:srgbClr val="13283D"/>
                          </a:solidFill>
                          <a:latin typeface="Open Sauce"/>
                          <a:ea typeface="Open Sauce"/>
                          <a:cs typeface="Open Sauce"/>
                          <a:sym typeface="Open Sauce"/>
                        </a:rPr>
                        <a:t>79 application responses matched their final audit records.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85804">
                <a:tc>
                  <a:txBody>
                    <a:bodyPr anchor="t" rtlCol="false"/>
                    <a:lstStyle/>
                    <a:p>
                      <a:pPr algn="l">
                        <a:lnSpc>
                          <a:spcPts val="3104"/>
                        </a:lnSpc>
                        <a:defRPr/>
                      </a:pPr>
                      <a:r>
                        <a:rPr lang="en-US" sz="2587">
                          <a:solidFill>
                            <a:srgbClr val="13283D"/>
                          </a:solidFill>
                          <a:latin typeface="Open Sauce"/>
                          <a:ea typeface="Open Sauce"/>
                          <a:cs typeface="Open Sauce"/>
                          <a:sym typeface="Open Sauce"/>
                        </a:rPr>
                        <a:t>Bounded failure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2F6"/>
                    </a:solidFill>
                  </a:tcPr>
                </a:tc>
                <a:tc>
                  <a:txBody>
                    <a:bodyPr anchor="t" rtlCol="false"/>
                    <a:lstStyle/>
                    <a:p>
                      <a:pPr algn="l">
                        <a:lnSpc>
                          <a:spcPts val="3104"/>
                        </a:lnSpc>
                        <a:defRPr/>
                      </a:pPr>
                      <a:r>
                        <a:rPr lang="en-US" sz="2587">
                          <a:solidFill>
                            <a:srgbClr val="13283D"/>
                          </a:solidFill>
                          <a:latin typeface="Open Sauce"/>
                          <a:ea typeface="Open Sauce"/>
                          <a:cs typeface="Open Sauce"/>
                          <a:sym typeface="Open Sauce"/>
                        </a:rPr>
                        <a:t>Unreachable ping returned in 3.10 s against a 12 s test budget.</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2F6"/>
                    </a:solidFill>
                  </a:tcPr>
                </a:tc>
              </a:tr>
              <a:tr h="685804">
                <a:tc>
                  <a:txBody>
                    <a:bodyPr anchor="t" rtlCol="false"/>
                    <a:lstStyle/>
                    <a:p>
                      <a:pPr algn="l">
                        <a:lnSpc>
                          <a:spcPts val="3104"/>
                        </a:lnSpc>
                        <a:defRPr/>
                      </a:pPr>
                      <a:r>
                        <a:rPr lang="en-US" sz="2587">
                          <a:solidFill>
                            <a:srgbClr val="13283D"/>
                          </a:solidFill>
                          <a:latin typeface="Open Sauce"/>
                          <a:ea typeface="Open Sauce"/>
                          <a:cs typeface="Open Sauce"/>
                          <a:sym typeface="Open Sauce"/>
                        </a:rPr>
                        <a:t>Capacity</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104"/>
                        </a:lnSpc>
                        <a:defRPr/>
                      </a:pPr>
                      <a:r>
                        <a:rPr lang="en-US" sz="2587">
                          <a:solidFill>
                            <a:srgbClr val="13283D"/>
                          </a:solidFill>
                          <a:latin typeface="Open Sauce"/>
                          <a:ea typeface="Open Sauce"/>
                          <a:cs typeface="Open Sauce"/>
                          <a:sym typeface="Open Sauce"/>
                        </a:rPr>
                        <a:t>100-rule limit: tested overflow rejection and capacity after removal.</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sp>
        <p:nvSpPr>
          <p:cNvPr name="TextBox 7" id="7"/>
          <p:cNvSpPr txBox="true"/>
          <p:nvPr/>
        </p:nvSpPr>
        <p:spPr>
          <a:xfrm rot="0">
            <a:off x="800100" y="5863379"/>
            <a:ext cx="8164681" cy="447705"/>
          </a:xfrm>
          <a:prstGeom prst="rect">
            <a:avLst/>
          </a:prstGeom>
        </p:spPr>
        <p:txBody>
          <a:bodyPr anchor="t" rtlCol="false" tIns="0" lIns="0" bIns="0" rIns="0">
            <a:spAutoFit/>
          </a:bodyPr>
          <a:lstStyle/>
          <a:p>
            <a:pPr algn="l">
              <a:lnSpc>
                <a:spcPts val="3510"/>
              </a:lnSpc>
            </a:pPr>
            <a:r>
              <a:rPr lang="en-US" sz="2925" b="true">
                <a:solidFill>
                  <a:srgbClr val="007E87"/>
                </a:solidFill>
                <a:latin typeface="Open Sauce Bold"/>
                <a:ea typeface="Open Sauce Bold"/>
                <a:cs typeface="Open Sauce Bold"/>
                <a:sym typeface="Open Sauce Bold"/>
              </a:rPr>
              <a:t>Live MCP latency, 20 samples per operation</a:t>
            </a:r>
          </a:p>
        </p:txBody>
      </p:sp>
      <p:graphicFrame>
        <p:nvGraphicFramePr>
          <p:cNvPr name="Table 8" id="8"/>
          <p:cNvGraphicFramePr>
            <a:graphicFrameLocks noGrp="true"/>
          </p:cNvGraphicFramePr>
          <p:nvPr/>
        </p:nvGraphicFramePr>
        <p:xfrm>
          <a:off x="800100" y="6598920"/>
          <a:ext cx="16687800" cy="2595562"/>
        </p:xfrm>
        <a:graphic>
          <a:graphicData uri="http://schemas.openxmlformats.org/drawingml/2006/table">
            <a:tbl>
              <a:tblPr/>
              <a:tblGrid>
                <a:gridCol w="9144000"/>
                <a:gridCol w="3771900"/>
                <a:gridCol w="3771900"/>
              </a:tblGrid>
              <a:tr h="648891">
                <a:tc>
                  <a:txBody>
                    <a:bodyPr anchor="t" rtlCol="false"/>
                    <a:lstStyle/>
                    <a:p>
                      <a:pPr algn="l">
                        <a:lnSpc>
                          <a:spcPts val="2970"/>
                        </a:lnSpc>
                        <a:defRPr/>
                      </a:pPr>
                      <a:r>
                        <a:rPr lang="en-US" sz="2475" b="true">
                          <a:solidFill>
                            <a:srgbClr val="FFFFFF"/>
                          </a:solidFill>
                          <a:latin typeface="Open Sauce Bold"/>
                          <a:ea typeface="Open Sauce Bold"/>
                          <a:cs typeface="Open Sauce Bold"/>
                          <a:sym typeface="Open Sauce Bold"/>
                        </a:rPr>
                        <a:t>Operation</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3283D"/>
                    </a:solidFill>
                  </a:tcPr>
                </a:tc>
                <a:tc>
                  <a:txBody>
                    <a:bodyPr anchor="t" rtlCol="false"/>
                    <a:lstStyle/>
                    <a:p>
                      <a:pPr algn="l">
                        <a:lnSpc>
                          <a:spcPts val="2970"/>
                        </a:lnSpc>
                        <a:defRPr/>
                      </a:pPr>
                      <a:r>
                        <a:rPr lang="en-US" sz="2475" b="true">
                          <a:solidFill>
                            <a:srgbClr val="FFFFFF"/>
                          </a:solidFill>
                          <a:latin typeface="Open Sauce Bold"/>
                          <a:ea typeface="Open Sauce Bold"/>
                          <a:cs typeface="Open Sauce Bold"/>
                          <a:sym typeface="Open Sauce Bold"/>
                        </a:rPr>
                        <a:t>Median (ms)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3283D"/>
                    </a:solidFill>
                  </a:tcPr>
                </a:tc>
                <a:tc>
                  <a:txBody>
                    <a:bodyPr anchor="t" rtlCol="false"/>
                    <a:lstStyle/>
                    <a:p>
                      <a:pPr algn="l">
                        <a:lnSpc>
                          <a:spcPts val="2970"/>
                        </a:lnSpc>
                        <a:defRPr/>
                      </a:pPr>
                      <a:r>
                        <a:rPr lang="en-US" sz="2475" b="true">
                          <a:solidFill>
                            <a:srgbClr val="FFFFFF"/>
                          </a:solidFill>
                          <a:latin typeface="Open Sauce Bold"/>
                          <a:ea typeface="Open Sauce Bold"/>
                          <a:cs typeface="Open Sauce Bold"/>
                          <a:sym typeface="Open Sauce Bold"/>
                        </a:rPr>
                        <a:t>P95 (ms)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3283D"/>
                    </a:solidFill>
                  </a:tcPr>
                </a:tc>
              </a:tr>
              <a:tr h="648891">
                <a:tc>
                  <a:txBody>
                    <a:bodyPr anchor="t" rtlCol="false"/>
                    <a:lstStyle/>
                    <a:p>
                      <a:pPr algn="l">
                        <a:lnSpc>
                          <a:spcPts val="2970"/>
                        </a:lnSpc>
                        <a:defRPr/>
                      </a:pPr>
                      <a:r>
                        <a:rPr lang="en-US" sz="2475">
                          <a:solidFill>
                            <a:srgbClr val="13283D"/>
                          </a:solidFill>
                          <a:latin typeface="Open Sauce"/>
                          <a:ea typeface="Open Sauce"/>
                          <a:cs typeface="Open Sauce"/>
                          <a:sym typeface="Open Sauce"/>
                        </a:rPr>
                        <a:t>Repeated block, no change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970"/>
                        </a:lnSpc>
                        <a:defRPr/>
                      </a:pPr>
                      <a:r>
                        <a:rPr lang="en-US" sz="2475">
                          <a:solidFill>
                            <a:srgbClr val="13283D"/>
                          </a:solidFill>
                          <a:latin typeface="Open Sauce"/>
                          <a:ea typeface="Open Sauce"/>
                          <a:cs typeface="Open Sauce"/>
                          <a:sym typeface="Open Sauce"/>
                        </a:rPr>
                        <a:t>7.801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970"/>
                        </a:lnSpc>
                        <a:defRPr/>
                      </a:pPr>
                      <a:r>
                        <a:rPr lang="en-US" sz="2475">
                          <a:solidFill>
                            <a:srgbClr val="13283D"/>
                          </a:solidFill>
                          <a:latin typeface="Open Sauce"/>
                          <a:ea typeface="Open Sauce"/>
                          <a:cs typeface="Open Sauce"/>
                          <a:sym typeface="Open Sauce"/>
                        </a:rPr>
                        <a:t>8.649</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48891">
                <a:tc>
                  <a:txBody>
                    <a:bodyPr anchor="t" rtlCol="false"/>
                    <a:lstStyle/>
                    <a:p>
                      <a:pPr algn="l">
                        <a:lnSpc>
                          <a:spcPts val="2970"/>
                        </a:lnSpc>
                        <a:defRPr/>
                      </a:pPr>
                      <a:r>
                        <a:rPr lang="en-US" sz="2475">
                          <a:solidFill>
                            <a:srgbClr val="13283D"/>
                          </a:solidFill>
                          <a:latin typeface="Open Sauce"/>
                          <a:ea typeface="Open Sauce"/>
                          <a:cs typeface="Open Sauce"/>
                          <a:sym typeface="Open Sauce"/>
                        </a:rPr>
                        <a:t>Add block</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2F6"/>
                    </a:solidFill>
                  </a:tcPr>
                </a:tc>
                <a:tc>
                  <a:txBody>
                    <a:bodyPr anchor="t" rtlCol="false"/>
                    <a:lstStyle/>
                    <a:p>
                      <a:pPr algn="l">
                        <a:lnSpc>
                          <a:spcPts val="2970"/>
                        </a:lnSpc>
                        <a:defRPr/>
                      </a:pPr>
                      <a:r>
                        <a:rPr lang="en-US" sz="2475">
                          <a:solidFill>
                            <a:srgbClr val="13283D"/>
                          </a:solidFill>
                          <a:latin typeface="Open Sauce"/>
                          <a:ea typeface="Open Sauce"/>
                          <a:cs typeface="Open Sauce"/>
                          <a:sym typeface="Open Sauce"/>
                        </a:rPr>
                        <a:t>11.571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2F6"/>
                    </a:solidFill>
                  </a:tcPr>
                </a:tc>
                <a:tc>
                  <a:txBody>
                    <a:bodyPr anchor="t" rtlCol="false"/>
                    <a:lstStyle/>
                    <a:p>
                      <a:pPr algn="l">
                        <a:lnSpc>
                          <a:spcPts val="2970"/>
                        </a:lnSpc>
                        <a:defRPr/>
                      </a:pPr>
                      <a:r>
                        <a:rPr lang="en-US" sz="2475">
                          <a:solidFill>
                            <a:srgbClr val="13283D"/>
                          </a:solidFill>
                          <a:latin typeface="Open Sauce"/>
                          <a:ea typeface="Open Sauce"/>
                          <a:cs typeface="Open Sauce"/>
                          <a:sym typeface="Open Sauce"/>
                        </a:rPr>
                        <a:t>12.066</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2F6"/>
                    </a:solidFill>
                  </a:tcPr>
                </a:tc>
              </a:tr>
              <a:tr h="648891">
                <a:tc>
                  <a:txBody>
                    <a:bodyPr anchor="t" rtlCol="false"/>
                    <a:lstStyle/>
                    <a:p>
                      <a:pPr algn="l">
                        <a:lnSpc>
                          <a:spcPts val="2970"/>
                        </a:lnSpc>
                        <a:defRPr/>
                      </a:pPr>
                      <a:r>
                        <a:rPr lang="en-US" sz="2475">
                          <a:solidFill>
                            <a:srgbClr val="13283D"/>
                          </a:solidFill>
                          <a:latin typeface="Open Sauce"/>
                          <a:ea typeface="Open Sauce"/>
                          <a:cs typeface="Open Sauce"/>
                          <a:sym typeface="Open Sauce"/>
                        </a:rPr>
                        <a:t>Remove block</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970"/>
                        </a:lnSpc>
                        <a:defRPr/>
                      </a:pPr>
                      <a:r>
                        <a:rPr lang="en-US" sz="2475">
                          <a:solidFill>
                            <a:srgbClr val="13283D"/>
                          </a:solidFill>
                          <a:latin typeface="Open Sauce"/>
                          <a:ea typeface="Open Sauce"/>
                          <a:cs typeface="Open Sauce"/>
                          <a:sym typeface="Open Sauce"/>
                        </a:rPr>
                        <a:t>29.423</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970"/>
                        </a:lnSpc>
                        <a:defRPr/>
                      </a:pPr>
                      <a:r>
                        <a:rPr lang="en-US" sz="2475">
                          <a:solidFill>
                            <a:srgbClr val="13283D"/>
                          </a:solidFill>
                          <a:latin typeface="Open Sauce"/>
                          <a:ea typeface="Open Sauce"/>
                          <a:cs typeface="Open Sauce"/>
                          <a:sym typeface="Open Sauce"/>
                        </a:rPr>
                        <a:t>33.438</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sp>
        <p:nvSpPr>
          <p:cNvPr name="AutoShape 9" id="9"/>
          <p:cNvSpPr/>
          <p:nvPr/>
        </p:nvSpPr>
        <p:spPr>
          <a:xfrm>
            <a:off x="1045163" y="1367399"/>
            <a:ext cx="16214137" cy="0"/>
          </a:xfrm>
          <a:prstGeom prst="line">
            <a:avLst/>
          </a:prstGeom>
          <a:ln cap="flat" w="19050">
            <a:solidFill>
              <a:srgbClr val="424242"/>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TextBox 2" id="2"/>
          <p:cNvSpPr txBox="true"/>
          <p:nvPr/>
        </p:nvSpPr>
        <p:spPr>
          <a:xfrm rot="0">
            <a:off x="891540" y="555307"/>
            <a:ext cx="16504920" cy="704850"/>
          </a:xfrm>
          <a:prstGeom prst="rect">
            <a:avLst/>
          </a:prstGeom>
        </p:spPr>
        <p:txBody>
          <a:bodyPr anchor="t" rtlCol="false" tIns="0" lIns="0" bIns="0" rIns="0">
            <a:spAutoFit/>
          </a:bodyPr>
          <a:lstStyle/>
          <a:p>
            <a:pPr algn="l">
              <a:lnSpc>
                <a:spcPts val="5670"/>
              </a:lnSpc>
            </a:pPr>
            <a:r>
              <a:rPr lang="en-US" sz="4725" b="true">
                <a:solidFill>
                  <a:srgbClr val="13283D"/>
                </a:solidFill>
                <a:latin typeface="Open Sauce Bold"/>
                <a:ea typeface="Open Sauce Bold"/>
                <a:cs typeface="Open Sauce Bold"/>
                <a:sym typeface="Open Sauce Bold"/>
              </a:rPr>
              <a:t>Challenges Faced</a:t>
            </a:r>
          </a:p>
        </p:txBody>
      </p:sp>
      <p:sp>
        <p:nvSpPr>
          <p:cNvPr name="TextBox 3" id="3"/>
          <p:cNvSpPr txBox="true"/>
          <p:nvPr/>
        </p:nvSpPr>
        <p:spPr>
          <a:xfrm rot="0">
            <a:off x="891540" y="9737407"/>
            <a:ext cx="15390495" cy="275272"/>
          </a:xfrm>
          <a:prstGeom prst="rect">
            <a:avLst/>
          </a:prstGeom>
        </p:spPr>
        <p:txBody>
          <a:bodyPr anchor="t" rtlCol="false" tIns="0" lIns="0" bIns="0" rIns="0">
            <a:spAutoFit/>
          </a:bodyPr>
          <a:lstStyle/>
          <a:p>
            <a:pPr algn="l">
              <a:lnSpc>
                <a:spcPts val="2160"/>
              </a:lnSpc>
            </a:pPr>
            <a:r>
              <a:rPr lang="en-US" sz="1800">
                <a:solidFill>
                  <a:srgbClr val="506176"/>
                </a:solidFill>
                <a:latin typeface="DejaVu Sans Light"/>
                <a:ea typeface="DejaVu Sans Light"/>
                <a:cs typeface="DejaVu Sans Light"/>
                <a:sym typeface="DejaVu Sans Light"/>
              </a:rPr>
              <a:t>Intelligent Network Configuration Assistant</a:t>
            </a:r>
          </a:p>
        </p:txBody>
      </p:sp>
      <p:sp>
        <p:nvSpPr>
          <p:cNvPr name="TextBox 4" id="4"/>
          <p:cNvSpPr txBox="true"/>
          <p:nvPr/>
        </p:nvSpPr>
        <p:spPr>
          <a:xfrm rot="0">
            <a:off x="16807815" y="9699307"/>
            <a:ext cx="602932" cy="327660"/>
          </a:xfrm>
          <a:prstGeom prst="rect">
            <a:avLst/>
          </a:prstGeom>
        </p:spPr>
        <p:txBody>
          <a:bodyPr anchor="t" rtlCol="false" tIns="0" lIns="0" bIns="0" rIns="0">
            <a:spAutoFit/>
          </a:bodyPr>
          <a:lstStyle/>
          <a:p>
            <a:pPr algn="l">
              <a:lnSpc>
                <a:spcPts val="2430"/>
              </a:lnSpc>
            </a:pPr>
            <a:r>
              <a:rPr lang="en-US" sz="2025" b="true">
                <a:solidFill>
                  <a:srgbClr val="007E87"/>
                </a:solidFill>
                <a:latin typeface="DejaVu Sans Bold"/>
                <a:ea typeface="DejaVu Sans Bold"/>
                <a:cs typeface="DejaVu Sans Bold"/>
                <a:sym typeface="DejaVu Sans Bold"/>
              </a:rPr>
              <a:t>05</a:t>
            </a:r>
          </a:p>
        </p:txBody>
      </p:sp>
      <p:sp>
        <p:nvSpPr>
          <p:cNvPr name="Freeform 5" id="5"/>
          <p:cNvSpPr/>
          <p:nvPr/>
        </p:nvSpPr>
        <p:spPr>
          <a:xfrm flipH="false" flipV="false" rot="-1977201">
            <a:off x="8302125" y="-801031"/>
            <a:ext cx="12791303" cy="9442307"/>
          </a:xfrm>
          <a:custGeom>
            <a:avLst/>
            <a:gdLst/>
            <a:ahLst/>
            <a:cxnLst/>
            <a:rect r="r" b="b" t="t" l="l"/>
            <a:pathLst>
              <a:path h="9442307" w="12791303">
                <a:moveTo>
                  <a:pt x="0" y="0"/>
                </a:moveTo>
                <a:lnTo>
                  <a:pt x="12791302" y="0"/>
                </a:lnTo>
                <a:lnTo>
                  <a:pt x="12791302" y="9442307"/>
                </a:lnTo>
                <a:lnTo>
                  <a:pt x="0" y="9442307"/>
                </a:lnTo>
                <a:lnTo>
                  <a:pt x="0" y="0"/>
                </a:lnTo>
                <a:close/>
              </a:path>
            </a:pathLst>
          </a:custGeom>
          <a:blipFill>
            <a:blip r:embed="rId3">
              <a:alphaModFix amt="42000"/>
            </a:blip>
            <a:stretch>
              <a:fillRect l="0" t="0" r="0" b="0"/>
            </a:stretch>
          </a:blipFill>
        </p:spPr>
      </p:sp>
      <p:graphicFrame>
        <p:nvGraphicFramePr>
          <p:cNvPr name="Table 6" id="6"/>
          <p:cNvGraphicFramePr>
            <a:graphicFrameLocks noGrp="true"/>
          </p:cNvGraphicFramePr>
          <p:nvPr/>
        </p:nvGraphicFramePr>
        <p:xfrm>
          <a:off x="800100" y="2398316"/>
          <a:ext cx="16687800" cy="5490369"/>
        </p:xfrm>
        <a:graphic>
          <a:graphicData uri="http://schemas.openxmlformats.org/drawingml/2006/table">
            <a:tbl>
              <a:tblPr/>
              <a:tblGrid>
                <a:gridCol w="5429250"/>
                <a:gridCol w="11258550"/>
              </a:tblGrid>
              <a:tr h="1066932">
                <a:tc>
                  <a:txBody>
                    <a:bodyPr anchor="t" rtlCol="false"/>
                    <a:lstStyle/>
                    <a:p>
                      <a:pPr algn="l">
                        <a:lnSpc>
                          <a:spcPts val="3240"/>
                        </a:lnSpc>
                        <a:defRPr/>
                      </a:pPr>
                      <a:r>
                        <a:rPr lang="en-US" sz="2700" b="true">
                          <a:solidFill>
                            <a:srgbClr val="FFFFFF"/>
                          </a:solidFill>
                          <a:latin typeface="Open Sauce Bold"/>
                          <a:ea typeface="Open Sauce Bold"/>
                          <a:cs typeface="Open Sauce Bold"/>
                          <a:sym typeface="Open Sauce Bold"/>
                        </a:rPr>
                        <a:t>Challenge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3283D"/>
                    </a:solidFill>
                  </a:tcPr>
                </a:tc>
                <a:tc>
                  <a:txBody>
                    <a:bodyPr anchor="t" rtlCol="false"/>
                    <a:lstStyle/>
                    <a:p>
                      <a:pPr algn="l">
                        <a:lnSpc>
                          <a:spcPts val="3240"/>
                        </a:lnSpc>
                        <a:defRPr/>
                      </a:pPr>
                      <a:r>
                        <a:rPr lang="en-US" sz="2700" b="true">
                          <a:solidFill>
                            <a:srgbClr val="FFFFFF"/>
                          </a:solidFill>
                          <a:latin typeface="Open Sauce Bold"/>
                          <a:ea typeface="Open Sauce Bold"/>
                          <a:cs typeface="Open Sauce Bold"/>
                          <a:sym typeface="Open Sauce Bold"/>
                        </a:rPr>
                        <a:t>Response / remaining limitation</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3283D"/>
                    </a:solidFill>
                  </a:tcPr>
                </a:tc>
              </a:tr>
              <a:tr h="1105859">
                <a:tc>
                  <a:txBody>
                    <a:bodyPr anchor="t" rtlCol="false"/>
                    <a:lstStyle/>
                    <a:p>
                      <a:pPr algn="l">
                        <a:lnSpc>
                          <a:spcPts val="3240"/>
                        </a:lnSpc>
                        <a:defRPr/>
                      </a:pPr>
                      <a:r>
                        <a:rPr lang="en-US" sz="2700">
                          <a:solidFill>
                            <a:srgbClr val="13283D"/>
                          </a:solidFill>
                          <a:latin typeface="Open Sauce"/>
                          <a:ea typeface="Open Sauce"/>
                          <a:cs typeface="Open Sauce"/>
                          <a:sym typeface="Open Sauce"/>
                        </a:rPr>
                        <a:t>Ambigu</a:t>
                      </a:r>
                      <a:r>
                        <a:rPr lang="en-US" sz="2700">
                          <a:solidFill>
                            <a:srgbClr val="13283D"/>
                          </a:solidFill>
                          <a:latin typeface="Open Sauce"/>
                          <a:ea typeface="Open Sauce"/>
                          <a:cs typeface="Open Sauce"/>
                          <a:sym typeface="Open Sauce"/>
                        </a:rPr>
                        <a:t>ous administrator requests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13283D"/>
                          </a:solidFill>
                          <a:latin typeface="Open Sauce"/>
                          <a:ea typeface="Open Sauce"/>
                          <a:cs typeface="Open Sauce"/>
                          <a:sym typeface="Open Sauce"/>
                        </a:rPr>
                        <a:t>C</a:t>
                      </a:r>
                      <a:r>
                        <a:rPr lang="en-US" sz="2700">
                          <a:solidFill>
                            <a:srgbClr val="13283D"/>
                          </a:solidFill>
                          <a:latin typeface="Open Sauce"/>
                          <a:ea typeface="Open Sauce"/>
                          <a:cs typeface="Open Sauce"/>
                          <a:sym typeface="Open Sauce"/>
                        </a:rPr>
                        <a:t>onvert natural language into structured requests and clarify missing details.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1105859">
                <a:tc>
                  <a:txBody>
                    <a:bodyPr anchor="t" rtlCol="false"/>
                    <a:lstStyle/>
                    <a:p>
                      <a:pPr algn="l">
                        <a:lnSpc>
                          <a:spcPts val="3240"/>
                        </a:lnSpc>
                        <a:defRPr/>
                      </a:pPr>
                      <a:r>
                        <a:rPr lang="en-US" sz="2700">
                          <a:solidFill>
                            <a:srgbClr val="13283D"/>
                          </a:solidFill>
                          <a:latin typeface="Open Sauce"/>
                          <a:ea typeface="Open Sauce"/>
                          <a:cs typeface="Open Sauce"/>
                          <a:sym typeface="Open Sauce"/>
                        </a:rPr>
                        <a:t>Risk</a:t>
                      </a:r>
                      <a:r>
                        <a:rPr lang="en-US" sz="2700">
                          <a:solidFill>
                            <a:srgbClr val="13283D"/>
                          </a:solidFill>
                          <a:latin typeface="Open Sauce"/>
                          <a:ea typeface="Open Sauce"/>
                          <a:cs typeface="Open Sauce"/>
                          <a:sym typeface="Open Sauce"/>
                        </a:rPr>
                        <a:t> of unauthorized network changes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2F6"/>
                    </a:solidFill>
                  </a:tcPr>
                </a:tc>
                <a:tc>
                  <a:txBody>
                    <a:bodyPr anchor="t" rtlCol="false"/>
                    <a:lstStyle/>
                    <a:p>
                      <a:pPr algn="l">
                        <a:lnSpc>
                          <a:spcPts val="3240"/>
                        </a:lnSpc>
                        <a:defRPr/>
                      </a:pPr>
                      <a:r>
                        <a:rPr lang="en-US" sz="2700">
                          <a:solidFill>
                            <a:srgbClr val="13283D"/>
                          </a:solidFill>
                          <a:latin typeface="Open Sauce"/>
                          <a:ea typeface="Open Sauce"/>
                          <a:cs typeface="Open Sauce"/>
                          <a:sym typeface="Open Sauce"/>
                        </a:rPr>
                        <a:t>Enfor</a:t>
                      </a:r>
                      <a:r>
                        <a:rPr lang="en-US" sz="2700">
                          <a:solidFill>
                            <a:srgbClr val="13283D"/>
                          </a:solidFill>
                          <a:latin typeface="Open Sauce"/>
                          <a:ea typeface="Open Sauce"/>
                          <a:cs typeface="Open Sauce"/>
                          <a:sym typeface="Open Sauce"/>
                        </a:rPr>
                        <a:t>ce policies, protect critical services, and restrict available operations.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2F6"/>
                    </a:solidFill>
                  </a:tcPr>
                </a:tc>
              </a:tr>
              <a:tr h="1105859">
                <a:tc>
                  <a:txBody>
                    <a:bodyPr anchor="t" rtlCol="false"/>
                    <a:lstStyle/>
                    <a:p>
                      <a:pPr algn="l">
                        <a:lnSpc>
                          <a:spcPts val="3240"/>
                        </a:lnSpc>
                        <a:defRPr/>
                      </a:pPr>
                      <a:r>
                        <a:rPr lang="en-US" sz="2700">
                          <a:solidFill>
                            <a:srgbClr val="13283D"/>
                          </a:solidFill>
                          <a:latin typeface="Open Sauce"/>
                          <a:ea typeface="Open Sauce"/>
                          <a:cs typeface="Open Sauce"/>
                          <a:sym typeface="Open Sauce"/>
                        </a:rPr>
                        <a:t>Integration across multiple technologies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13283D"/>
                          </a:solidFill>
                          <a:latin typeface="Open Sauce"/>
                          <a:ea typeface="Open Sauce"/>
                          <a:cs typeface="Open Sauce"/>
                          <a:sym typeface="Open Sauce"/>
                        </a:rPr>
                        <a:t>Us</a:t>
                      </a:r>
                      <a:r>
                        <a:rPr lang="en-US" sz="2700">
                          <a:solidFill>
                            <a:srgbClr val="13283D"/>
                          </a:solidFill>
                          <a:latin typeface="Open Sauce"/>
                          <a:ea typeface="Open Sauce"/>
                          <a:cs typeface="Open Sauce"/>
                          <a:sym typeface="Open Sauce"/>
                        </a:rPr>
                        <a:t>e MCP interfaces and modular Python components.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1105859">
                <a:tc>
                  <a:txBody>
                    <a:bodyPr anchor="t" rtlCol="false"/>
                    <a:lstStyle/>
                    <a:p>
                      <a:pPr algn="l">
                        <a:lnSpc>
                          <a:spcPts val="3240"/>
                        </a:lnSpc>
                        <a:defRPr/>
                      </a:pPr>
                      <a:r>
                        <a:rPr lang="en-US" sz="2700">
                          <a:solidFill>
                            <a:srgbClr val="13283D"/>
                          </a:solidFill>
                          <a:latin typeface="Open Sauce"/>
                          <a:ea typeface="Open Sauce"/>
                          <a:cs typeface="Open Sauce"/>
                          <a:sym typeface="Open Sauce"/>
                        </a:rPr>
                        <a:t>Audit persistence and coverage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2F6"/>
                    </a:solidFill>
                  </a:tcPr>
                </a:tc>
                <a:tc>
                  <a:txBody>
                    <a:bodyPr anchor="t" rtlCol="false"/>
                    <a:lstStyle/>
                    <a:p>
                      <a:pPr algn="l">
                        <a:lnSpc>
                          <a:spcPts val="3240"/>
                        </a:lnSpc>
                        <a:defRPr/>
                      </a:pPr>
                      <a:r>
                        <a:rPr lang="en-US" sz="2700">
                          <a:solidFill>
                            <a:srgbClr val="13283D"/>
                          </a:solidFill>
                          <a:latin typeface="Open Sauce"/>
                          <a:ea typeface="Open Sauce"/>
                          <a:cs typeface="Open Sauce"/>
                          <a:sym typeface="Open Sauce"/>
                        </a:rPr>
                        <a:t>Ma</a:t>
                      </a:r>
                      <a:r>
                        <a:rPr lang="en-US" sz="2700">
                          <a:solidFill>
                            <a:srgbClr val="13283D"/>
                          </a:solidFill>
                          <a:latin typeface="Open Sauce"/>
                          <a:ea typeface="Open Sauce"/>
                          <a:cs typeface="Open Sauce"/>
                          <a:sym typeface="Open Sauce"/>
                        </a:rPr>
                        <a:t>intain structured audit logs for requests, decisions, and outcomes.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2F6"/>
                    </a:solidFill>
                  </a:tcPr>
                </a:tc>
              </a:tr>
            </a:tbl>
          </a:graphicData>
        </a:graphic>
      </p:graphicFrame>
      <p:sp>
        <p:nvSpPr>
          <p:cNvPr name="AutoShape 7" id="7"/>
          <p:cNvSpPr/>
          <p:nvPr/>
        </p:nvSpPr>
        <p:spPr>
          <a:xfrm>
            <a:off x="1045163" y="1480091"/>
            <a:ext cx="16214137" cy="0"/>
          </a:xfrm>
          <a:prstGeom prst="line">
            <a:avLst/>
          </a:prstGeom>
          <a:ln cap="flat" w="19050">
            <a:solidFill>
              <a:srgbClr val="424242"/>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DAHUzt6VtmY</dc:identifier>
  <dcterms:modified xsi:type="dcterms:W3CDTF">2011-08-01T06:04:30Z</dcterms:modified>
  <cp:revision>1</cp:revision>
  <dc:title>network-assistant-presentation.pptx</dc:title>
</cp:coreProperties>
</file>